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258" r:id="rId2"/>
    <p:sldId id="367" r:id="rId3"/>
    <p:sldId id="358" r:id="rId4"/>
    <p:sldId id="344" r:id="rId5"/>
    <p:sldId id="347" r:id="rId6"/>
    <p:sldId id="365" r:id="rId7"/>
    <p:sldId id="396" r:id="rId8"/>
    <p:sldId id="393" r:id="rId9"/>
    <p:sldId id="395" r:id="rId10"/>
    <p:sldId id="386" r:id="rId11"/>
    <p:sldId id="392" r:id="rId12"/>
    <p:sldId id="373" r:id="rId13"/>
    <p:sldId id="374" r:id="rId14"/>
    <p:sldId id="375" r:id="rId15"/>
    <p:sldId id="379" r:id="rId16"/>
    <p:sldId id="389" r:id="rId17"/>
    <p:sldId id="401" r:id="rId18"/>
    <p:sldId id="390" r:id="rId19"/>
    <p:sldId id="377" r:id="rId20"/>
    <p:sldId id="381" r:id="rId21"/>
    <p:sldId id="398" r:id="rId22"/>
    <p:sldId id="353" r:id="rId23"/>
    <p:sldId id="354" r:id="rId24"/>
    <p:sldId id="356" r:id="rId25"/>
    <p:sldId id="371" r:id="rId26"/>
    <p:sldId id="400" r:id="rId27"/>
  </p:sldIdLst>
  <p:sldSz cx="9144000" cy="6858000" type="screen4x3"/>
  <p:notesSz cx="6735763" cy="98663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FF0000"/>
    <a:srgbClr val="FFFF99"/>
    <a:srgbClr val="66FF33"/>
    <a:srgbClr val="990033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42" autoAdjust="0"/>
    <p:restoredTop sz="90929"/>
  </p:normalViewPr>
  <p:slideViewPr>
    <p:cSldViewPr>
      <p:cViewPr varScale="1">
        <p:scale>
          <a:sx n="74" d="100"/>
          <a:sy n="74" d="100"/>
        </p:scale>
        <p:origin x="124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43AD5A11-596A-D677-2364-BCACAE4B07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40963" name="Rectangle 1027">
            <a:extLst>
              <a:ext uri="{FF2B5EF4-FFF2-40B4-BE49-F238E27FC236}">
                <a16:creationId xmlns:a16="http://schemas.microsoft.com/office/drawing/2014/main" id="{76193069-5EDD-C14B-8E16-278F3BF0BB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40964" name="Rectangle 1028">
            <a:extLst>
              <a:ext uri="{FF2B5EF4-FFF2-40B4-BE49-F238E27FC236}">
                <a16:creationId xmlns:a16="http://schemas.microsoft.com/office/drawing/2014/main" id="{3019E278-AD55-A35A-F22F-D6DF39B6606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40965" name="Rectangle 1029">
            <a:extLst>
              <a:ext uri="{FF2B5EF4-FFF2-40B4-BE49-F238E27FC236}">
                <a16:creationId xmlns:a16="http://schemas.microsoft.com/office/drawing/2014/main" id="{4A40AA96-E6B0-A24B-BE67-1FC0BD25E63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2D46C429-A60D-4B5A-A943-6B5451A7E1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D285811-651C-6804-902A-78BC44C3A5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22EB949-7F2C-F104-1630-99F8D2CBBE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ABAA6FF0-4990-E773-B6B1-38A641F82277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FE1E67F3-16F3-8244-3C51-80B7A1C589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938" y="4686300"/>
            <a:ext cx="4941887" cy="444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4786D11E-464D-8F59-8C1D-83AF08CD90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DE675A46-A819-8615-B154-F2C8D8B964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ABF7557-805E-44C8-9FDC-28597FFED4F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4E8AD84-C3E7-539C-87DF-14C9FC0380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B9D2C1-1298-429D-AA6D-75D24D06C9C5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8BDA28F6-2CD2-F54C-2741-0D28390B47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FD56A8B-CC25-19E9-EEA8-66590EB30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54" name="Group 2">
            <a:extLst>
              <a:ext uri="{FF2B5EF4-FFF2-40B4-BE49-F238E27FC236}">
                <a16:creationId xmlns:a16="http://schemas.microsoft.com/office/drawing/2014/main" id="{AB5976FD-B5EC-F4F0-7AF0-D1970307AC58}"/>
              </a:ext>
            </a:extLst>
          </p:cNvPr>
          <p:cNvGrpSpPr>
            <a:grpSpLocks/>
          </p:cNvGrpSpPr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125955" name="Freeform 3">
              <a:extLst>
                <a:ext uri="{FF2B5EF4-FFF2-40B4-BE49-F238E27FC236}">
                  <a16:creationId xmlns:a16="http://schemas.microsoft.com/office/drawing/2014/main" id="{6A29873D-A2AC-331F-6745-978A3C73C8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56" name="Freeform 4">
              <a:extLst>
                <a:ext uri="{FF2B5EF4-FFF2-40B4-BE49-F238E27FC236}">
                  <a16:creationId xmlns:a16="http://schemas.microsoft.com/office/drawing/2014/main" id="{30BDAD8F-08B9-9DEA-128B-A92A947C44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57" name="Freeform 5">
              <a:extLst>
                <a:ext uri="{FF2B5EF4-FFF2-40B4-BE49-F238E27FC236}">
                  <a16:creationId xmlns:a16="http://schemas.microsoft.com/office/drawing/2014/main" id="{7315373B-43EB-6C8C-7D45-17B62464F5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415 h 4420"/>
                <a:gd name="T2" fmla="*/ 1739 w 1739"/>
                <a:gd name="T3" fmla="*/ 442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415 h 4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58" name="Freeform 6">
              <a:extLst>
                <a:ext uri="{FF2B5EF4-FFF2-40B4-BE49-F238E27FC236}">
                  <a16:creationId xmlns:a16="http://schemas.microsoft.com/office/drawing/2014/main" id="{D1236EE3-207F-37C0-F472-3680BCA921C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38 h 4338"/>
                <a:gd name="T4" fmla="*/ 2080 w 2080"/>
                <a:gd name="T5" fmla="*/ 4338 h 4338"/>
                <a:gd name="T6" fmla="*/ 1033 w 2080"/>
                <a:gd name="T7" fmla="*/ 0 h 4338"/>
                <a:gd name="T8" fmla="*/ 0 w 2080"/>
                <a:gd name="T9" fmla="*/ 7 h 4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59" name="Freeform 7">
              <a:extLst>
                <a:ext uri="{FF2B5EF4-FFF2-40B4-BE49-F238E27FC236}">
                  <a16:creationId xmlns:a16="http://schemas.microsoft.com/office/drawing/2014/main" id="{6454C1BC-E58E-5F8B-42AB-27B7D9F783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0" name="Freeform 8">
              <a:extLst>
                <a:ext uri="{FF2B5EF4-FFF2-40B4-BE49-F238E27FC236}">
                  <a16:creationId xmlns:a16="http://schemas.microsoft.com/office/drawing/2014/main" id="{3E2CCC71-E0C4-EB22-9703-167BA430C79A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1" name="Freeform 9">
              <a:extLst>
                <a:ext uri="{FF2B5EF4-FFF2-40B4-BE49-F238E27FC236}">
                  <a16:creationId xmlns:a16="http://schemas.microsoft.com/office/drawing/2014/main" id="{4C2F75F2-C7DD-3C5B-FFAD-C479815362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2" name="Freeform 10">
              <a:extLst>
                <a:ext uri="{FF2B5EF4-FFF2-40B4-BE49-F238E27FC236}">
                  <a16:creationId xmlns:a16="http://schemas.microsoft.com/office/drawing/2014/main" id="{49FE879C-DC73-16BE-F573-E5928BE4B3C7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3" name="Freeform 11">
              <a:extLst>
                <a:ext uri="{FF2B5EF4-FFF2-40B4-BE49-F238E27FC236}">
                  <a16:creationId xmlns:a16="http://schemas.microsoft.com/office/drawing/2014/main" id="{86F37136-1F0D-4A08-2397-24D5D1710F7F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4" name="Freeform 12">
              <a:extLst>
                <a:ext uri="{FF2B5EF4-FFF2-40B4-BE49-F238E27FC236}">
                  <a16:creationId xmlns:a16="http://schemas.microsoft.com/office/drawing/2014/main" id="{D4BBD7BB-F897-87BF-6D40-90435E40189B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5" name="Freeform 13">
              <a:extLst>
                <a:ext uri="{FF2B5EF4-FFF2-40B4-BE49-F238E27FC236}">
                  <a16:creationId xmlns:a16="http://schemas.microsoft.com/office/drawing/2014/main" id="{281DC0A8-21B8-4520-C388-BD19DFB48CA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>
                <a:gd name="T0" fmla="*/ 0 w 1089"/>
                <a:gd name="T1" fmla="*/ 2265 h 2285"/>
                <a:gd name="T2" fmla="*/ 1030 w 1089"/>
                <a:gd name="T3" fmla="*/ 0 h 2285"/>
                <a:gd name="T4" fmla="*/ 1089 w 1089"/>
                <a:gd name="T5" fmla="*/ 0 h 2285"/>
                <a:gd name="T6" fmla="*/ 37 w 1089"/>
                <a:gd name="T7" fmla="*/ 2285 h 2285"/>
                <a:gd name="T8" fmla="*/ 0 w 1089"/>
                <a:gd name="T9" fmla="*/ 2265 h 2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6" name="Rectangle 14">
              <a:extLst>
                <a:ext uri="{FF2B5EF4-FFF2-40B4-BE49-F238E27FC236}">
                  <a16:creationId xmlns:a16="http://schemas.microsoft.com/office/drawing/2014/main" id="{03C340BF-D0CF-2AB9-F933-05E91223555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7" name="Freeform 15">
              <a:extLst>
                <a:ext uri="{FF2B5EF4-FFF2-40B4-BE49-F238E27FC236}">
                  <a16:creationId xmlns:a16="http://schemas.microsoft.com/office/drawing/2014/main" id="{BD7DB5FD-7FBF-E333-5093-2F880DB6B80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8" name="Freeform 16">
              <a:extLst>
                <a:ext uri="{FF2B5EF4-FFF2-40B4-BE49-F238E27FC236}">
                  <a16:creationId xmlns:a16="http://schemas.microsoft.com/office/drawing/2014/main" id="{EA8F6223-A138-06F2-C422-8A16C18B56C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69" name="Freeform 17">
              <a:extLst>
                <a:ext uri="{FF2B5EF4-FFF2-40B4-BE49-F238E27FC236}">
                  <a16:creationId xmlns:a16="http://schemas.microsoft.com/office/drawing/2014/main" id="{9D4E2DF5-D03E-A61C-B604-E678684F327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4415 h 4420"/>
                <a:gd name="T2" fmla="*/ 1739 w 1739"/>
                <a:gd name="T3" fmla="*/ 442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415 h 4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0" name="Freeform 18">
              <a:extLst>
                <a:ext uri="{FF2B5EF4-FFF2-40B4-BE49-F238E27FC236}">
                  <a16:creationId xmlns:a16="http://schemas.microsoft.com/office/drawing/2014/main" id="{A2C2AA94-BC83-ECEF-8613-B74F188F194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38 h 4338"/>
                <a:gd name="T4" fmla="*/ 2080 w 2080"/>
                <a:gd name="T5" fmla="*/ 4338 h 4338"/>
                <a:gd name="T6" fmla="*/ 1033 w 2080"/>
                <a:gd name="T7" fmla="*/ 0 h 4338"/>
                <a:gd name="T8" fmla="*/ 0 w 2080"/>
                <a:gd name="T9" fmla="*/ 7 h 4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1" name="Rectangle 19">
              <a:extLst>
                <a:ext uri="{FF2B5EF4-FFF2-40B4-BE49-F238E27FC236}">
                  <a16:creationId xmlns:a16="http://schemas.microsoft.com/office/drawing/2014/main" id="{2FE6070D-73E1-0531-6948-F08BFE0E3D46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2" name="Freeform 20">
              <a:extLst>
                <a:ext uri="{FF2B5EF4-FFF2-40B4-BE49-F238E27FC236}">
                  <a16:creationId xmlns:a16="http://schemas.microsoft.com/office/drawing/2014/main" id="{4C0A800C-0A0A-6449-81F9-49FC9CB499E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>
                <a:gd name="T0" fmla="*/ 1027 w 1036"/>
                <a:gd name="T1" fmla="*/ 0 h 420"/>
                <a:gd name="T2" fmla="*/ 0 w 1036"/>
                <a:gd name="T3" fmla="*/ 417 h 420"/>
                <a:gd name="T4" fmla="*/ 24 w 1036"/>
                <a:gd name="T5" fmla="*/ 420 h 420"/>
                <a:gd name="T6" fmla="*/ 1036 w 1036"/>
                <a:gd name="T7" fmla="*/ 16 h 420"/>
                <a:gd name="T8" fmla="*/ 1027 w 1036"/>
                <a:gd name="T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3" name="Freeform 21">
              <a:extLst>
                <a:ext uri="{FF2B5EF4-FFF2-40B4-BE49-F238E27FC236}">
                  <a16:creationId xmlns:a16="http://schemas.microsoft.com/office/drawing/2014/main" id="{2EA4E04D-7159-03B3-1EC6-2D9BD8B086D0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4" name="Freeform 22">
              <a:extLst>
                <a:ext uri="{FF2B5EF4-FFF2-40B4-BE49-F238E27FC236}">
                  <a16:creationId xmlns:a16="http://schemas.microsoft.com/office/drawing/2014/main" id="{02E9AC44-F030-5A1B-0F34-5C93AB12F2B0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5" name="Freeform 23">
              <a:extLst>
                <a:ext uri="{FF2B5EF4-FFF2-40B4-BE49-F238E27FC236}">
                  <a16:creationId xmlns:a16="http://schemas.microsoft.com/office/drawing/2014/main" id="{59FF77ED-567F-4DE2-1218-F86045F5FC6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6" name="Freeform 24">
              <a:extLst>
                <a:ext uri="{FF2B5EF4-FFF2-40B4-BE49-F238E27FC236}">
                  <a16:creationId xmlns:a16="http://schemas.microsoft.com/office/drawing/2014/main" id="{9D5AC73E-A07C-A666-DC78-32D3AEFB8B0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7" name="Freeform 25">
              <a:extLst>
                <a:ext uri="{FF2B5EF4-FFF2-40B4-BE49-F238E27FC236}">
                  <a16:creationId xmlns:a16="http://schemas.microsoft.com/office/drawing/2014/main" id="{7A1A8BBA-0484-6EBF-1BAE-443E48341424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8" name="Freeform 26">
              <a:extLst>
                <a:ext uri="{FF2B5EF4-FFF2-40B4-BE49-F238E27FC236}">
                  <a16:creationId xmlns:a16="http://schemas.microsoft.com/office/drawing/2014/main" id="{4F023FF0-2BC0-30A5-C3CF-A3CE7E7F5ABB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79" name="Freeform 27">
              <a:extLst>
                <a:ext uri="{FF2B5EF4-FFF2-40B4-BE49-F238E27FC236}">
                  <a16:creationId xmlns:a16="http://schemas.microsoft.com/office/drawing/2014/main" id="{59B87A04-75FA-1000-F567-AFD1F73D597F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80" name="Freeform 28">
              <a:extLst>
                <a:ext uri="{FF2B5EF4-FFF2-40B4-BE49-F238E27FC236}">
                  <a16:creationId xmlns:a16="http://schemas.microsoft.com/office/drawing/2014/main" id="{3747150B-1125-04BC-ADC2-1786C38248D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81" name="Rectangle 29">
              <a:extLst>
                <a:ext uri="{FF2B5EF4-FFF2-40B4-BE49-F238E27FC236}">
                  <a16:creationId xmlns:a16="http://schemas.microsoft.com/office/drawing/2014/main" id="{F2640248-5E02-56BB-2C55-700AFB7A819E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82" name="Rectangle 30">
              <a:extLst>
                <a:ext uri="{FF2B5EF4-FFF2-40B4-BE49-F238E27FC236}">
                  <a16:creationId xmlns:a16="http://schemas.microsoft.com/office/drawing/2014/main" id="{97EF09A3-EA05-0BC7-8E30-12DDC82E15B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5983" name="Rectangle 31">
              <a:extLst>
                <a:ext uri="{FF2B5EF4-FFF2-40B4-BE49-F238E27FC236}">
                  <a16:creationId xmlns:a16="http://schemas.microsoft.com/office/drawing/2014/main" id="{207DEB9C-99F3-8B36-D0C0-857A53AD645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pic>
          <p:nvPicPr>
            <p:cNvPr id="125984" name="Picture 32">
              <a:extLst>
                <a:ext uri="{FF2B5EF4-FFF2-40B4-BE49-F238E27FC236}">
                  <a16:creationId xmlns:a16="http://schemas.microsoft.com/office/drawing/2014/main" id="{46C04E45-33C1-DF93-36A4-FB29E7133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5985" name="Rectangle 33">
            <a:extLst>
              <a:ext uri="{FF2B5EF4-FFF2-40B4-BE49-F238E27FC236}">
                <a16:creationId xmlns:a16="http://schemas.microsoft.com/office/drawing/2014/main" id="{EBF0AAFB-342B-6448-5F9C-0E78AC0C7BC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25986" name="Rectangle 34">
            <a:extLst>
              <a:ext uri="{FF2B5EF4-FFF2-40B4-BE49-F238E27FC236}">
                <a16:creationId xmlns:a16="http://schemas.microsoft.com/office/drawing/2014/main" id="{52A5A842-D74C-A4DE-42D6-E18FC644B0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25987" name="Rectangle 35">
            <a:extLst>
              <a:ext uri="{FF2B5EF4-FFF2-40B4-BE49-F238E27FC236}">
                <a16:creationId xmlns:a16="http://schemas.microsoft.com/office/drawing/2014/main" id="{139D381F-0E6E-F890-D2E2-78BE38AFAA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1160E53-86D9-4CE1-A2CF-EE481C1A93CA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125988" name="Rectangle 36">
            <a:extLst>
              <a:ext uri="{FF2B5EF4-FFF2-40B4-BE49-F238E27FC236}">
                <a16:creationId xmlns:a16="http://schemas.microsoft.com/office/drawing/2014/main" id="{5C6AC446-BF86-AD67-B286-DCC5C3975D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25989" name="Rectangle 37">
            <a:extLst>
              <a:ext uri="{FF2B5EF4-FFF2-40B4-BE49-F238E27FC236}">
                <a16:creationId xmlns:a16="http://schemas.microsoft.com/office/drawing/2014/main" id="{228FADDD-C120-0F65-304E-E3C83A2712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E5F4B60-CA82-4ADA-B91C-F4AFFEC4C0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73F0-0B54-212F-D604-4B98FBC6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6076-DC59-0771-DDFF-1ED9685C9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01F16-72BC-4783-BB26-AB7C0329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F5623A-F77E-4387-92D7-C5CF73C13472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E413D-F06C-DC0E-C567-AC991EC7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F08B3-60F6-E770-DEF0-B3E49232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3E61B0-EDBE-4F00-AEDD-BBD0A8F480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40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C289-58CF-B5FF-9873-34B8A03C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CDBDB-7FC3-9E2A-2F7B-B06ADEC90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7EC1F-C715-2DDE-E60A-6C308D2E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F768B5-949F-4ECA-82A2-A990C358F944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304C-ECC7-EDA9-16C4-C90A192C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8261-B3D8-5F9A-D496-EF498FD9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CDA40-AF62-4B85-A04A-AEB3D04D13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92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DAD1-4522-8B8F-4F89-33C381E7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AEB93-4ED2-B8B3-A9A0-CAA58F789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5E978-8EC5-E9E5-62EE-AA2AE2771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1718F-D65A-D580-3CFB-7DB328B2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64F2EA-0032-4DBC-90C5-08306B10BD1E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66F21-19AA-977A-FA24-71F4C61F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689EE-9F49-03E3-4930-4B8580BD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651F2-6C34-436B-890E-C148CFA3C8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08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8454-3C94-1CC4-E443-6DBF324C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57485-447B-3E84-6ACF-7B9ADF0D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50EA9-0505-12C6-809B-3F698FE09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11D74-7DE2-CA4D-E33A-8A90D3E00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B701A-75F5-F0D8-6541-67C99AB45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DC6D8-BAF8-7B5A-6331-9EF37488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571EFD-A10B-48EA-B152-A62D134DA944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87171-092C-8386-A79A-3C5E503B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30F86-EDAD-2E37-1B7D-7ED65E7D9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D18DA3-AAEE-4CEA-80AF-87A84AD20A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30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E68D-28A7-0AE5-03E3-9111DD85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019C9-8A1F-234D-9216-33D1CDF8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EC7314-03CA-44A3-B930-DFC8F1EAF8A1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DA393-F9BD-D527-BD71-9B6A842D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EF08D-EEE5-1C33-4C28-BEA7B0A1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C843F-6A6C-4513-A7B9-3963775A07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428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4DD4D-7295-3CCE-F85B-6AFFC392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2F7B7A-B200-4EB2-A5C5-434BB7F6C954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D4DF7-6A90-B4E9-D1D2-0CC78080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6781-4510-AE12-4DE4-4B67F2C0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F968E-FB15-4106-AB54-263FDBB8B1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65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11E4-33A4-20C4-F9FC-98C1B9C9E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C796-6884-F877-00E0-35189FC42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5E17E-CC3B-06FB-2105-32291CB70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D0C70-CDD1-354B-5246-9195DDF8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470EA7-6582-468A-9070-688E1AC19F40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807C5-64E2-C1F9-26F1-31709585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5AD61-029A-D1A7-6983-69035E85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600CD-BF6B-4366-87C6-54B4F16511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77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18A5-FEB6-76FD-7673-97068A91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75C1D-756B-E4F6-0598-B8C99E3A4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DA5C9-9C4A-EB69-FB68-198D0FB02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EE4AE-D147-9B4D-2DFA-E9A22723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3943B4-CC78-413A-841D-BC279740B001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5795-9C43-9545-CFF9-BF218DE9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258CB-0918-F7D4-EA42-ED1B69C6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74B983-9DF0-4955-AEFF-956B5515C5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46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D539-E5FE-0DD3-CE74-505B278C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F09A4-AF63-631B-7EDF-0CA835FAD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E6E7-9C68-9122-1DC0-73A4BA0E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BCF755-B919-4786-9513-9435C8F107CC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210F-6BD2-0749-9FE5-16AEAE1A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5DFE3-9A47-E4C9-C377-D57A125E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3C9883-5368-4438-89C7-E01CC704AC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08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B0A1D0-04D9-7A41-B21D-726A97177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465138"/>
            <a:ext cx="1943100" cy="56308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CDA86-4113-81CF-7685-18F612206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465138"/>
            <a:ext cx="5676900" cy="56308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A44DF-5ACF-1E41-F1C8-7DCF8C59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F79E5F-C03B-49DB-AA89-236D83D5C409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B9A5-CAAE-A819-6566-941D4770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F56DF-13CE-9F37-01E7-44945EDF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8D642-6173-4E73-AF0F-0D79225E6B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102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30" name="Group 2">
            <a:extLst>
              <a:ext uri="{FF2B5EF4-FFF2-40B4-BE49-F238E27FC236}">
                <a16:creationId xmlns:a16="http://schemas.microsoft.com/office/drawing/2014/main" id="{6BD12DF3-7CA3-6098-152E-A5B46627FD1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7405688"/>
            <a:chOff x="0" y="-9"/>
            <a:chExt cx="5760" cy="4665"/>
          </a:xfrm>
        </p:grpSpPr>
        <p:sp>
          <p:nvSpPr>
            <p:cNvPr id="124931" name="Freeform 3">
              <a:extLst>
                <a:ext uri="{FF2B5EF4-FFF2-40B4-BE49-F238E27FC236}">
                  <a16:creationId xmlns:a16="http://schemas.microsoft.com/office/drawing/2014/main" id="{19EE30A8-DBBC-0D5E-1E20-7409FEB9D0D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2" name="Freeform 4">
              <a:extLst>
                <a:ext uri="{FF2B5EF4-FFF2-40B4-BE49-F238E27FC236}">
                  <a16:creationId xmlns:a16="http://schemas.microsoft.com/office/drawing/2014/main" id="{F6AF50A8-9CA3-5626-AFF1-D2370B7975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3" name="Freeform 5">
              <a:extLst>
                <a:ext uri="{FF2B5EF4-FFF2-40B4-BE49-F238E27FC236}">
                  <a16:creationId xmlns:a16="http://schemas.microsoft.com/office/drawing/2014/main" id="{52D0EAC2-8E37-D78A-414E-F6E18F6D36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415 h 4420"/>
                <a:gd name="T2" fmla="*/ 1739 w 1739"/>
                <a:gd name="T3" fmla="*/ 442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415 h 4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4" name="Freeform 6">
              <a:extLst>
                <a:ext uri="{FF2B5EF4-FFF2-40B4-BE49-F238E27FC236}">
                  <a16:creationId xmlns:a16="http://schemas.microsoft.com/office/drawing/2014/main" id="{8B5E5F14-DF85-532E-FF10-9FE6BFB72C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38 h 4338"/>
                <a:gd name="T4" fmla="*/ 2080 w 2080"/>
                <a:gd name="T5" fmla="*/ 4338 h 4338"/>
                <a:gd name="T6" fmla="*/ 1033 w 2080"/>
                <a:gd name="T7" fmla="*/ 0 h 4338"/>
                <a:gd name="T8" fmla="*/ 0 w 2080"/>
                <a:gd name="T9" fmla="*/ 7 h 4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5" name="Freeform 7">
              <a:extLst>
                <a:ext uri="{FF2B5EF4-FFF2-40B4-BE49-F238E27FC236}">
                  <a16:creationId xmlns:a16="http://schemas.microsoft.com/office/drawing/2014/main" id="{80D4D05C-66A1-30E7-A2F5-5818BBE9073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6" name="Freeform 8">
              <a:extLst>
                <a:ext uri="{FF2B5EF4-FFF2-40B4-BE49-F238E27FC236}">
                  <a16:creationId xmlns:a16="http://schemas.microsoft.com/office/drawing/2014/main" id="{1A85D626-24F6-CABC-F1DC-7F62F3B32C95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7" name="Freeform 9">
              <a:extLst>
                <a:ext uri="{FF2B5EF4-FFF2-40B4-BE49-F238E27FC236}">
                  <a16:creationId xmlns:a16="http://schemas.microsoft.com/office/drawing/2014/main" id="{E9DE58EB-2264-9971-1047-6D2163E6BB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8" name="Freeform 10">
              <a:extLst>
                <a:ext uri="{FF2B5EF4-FFF2-40B4-BE49-F238E27FC236}">
                  <a16:creationId xmlns:a16="http://schemas.microsoft.com/office/drawing/2014/main" id="{4B41D040-7248-B055-B070-7729BF1BE89C}"/>
                </a:ext>
              </a:extLst>
            </p:cNvPr>
            <p:cNvSpPr>
              <a:spLocks/>
            </p:cNvSpPr>
            <p:nvPr userDrawn="1"/>
          </p:nvSpPr>
          <p:spPr bwMode="hidden">
            <a:xfrm rot="-2895842">
              <a:off x="-984" y="1041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39" name="Freeform 11">
              <a:extLst>
                <a:ext uri="{FF2B5EF4-FFF2-40B4-BE49-F238E27FC236}">
                  <a16:creationId xmlns:a16="http://schemas.microsoft.com/office/drawing/2014/main" id="{0371753C-09E2-89E0-1577-DD429981CED1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0" name="Freeform 12">
              <a:extLst>
                <a:ext uri="{FF2B5EF4-FFF2-40B4-BE49-F238E27FC236}">
                  <a16:creationId xmlns:a16="http://schemas.microsoft.com/office/drawing/2014/main" id="{E501FE28-92CC-729C-19D7-CF494E61226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1" name="Freeform 13">
              <a:extLst>
                <a:ext uri="{FF2B5EF4-FFF2-40B4-BE49-F238E27FC236}">
                  <a16:creationId xmlns:a16="http://schemas.microsoft.com/office/drawing/2014/main" id="{80430416-688D-CC40-18E4-9F960134B5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>
                <a:gd name="T0" fmla="*/ 0 w 1089"/>
                <a:gd name="T1" fmla="*/ 2265 h 2285"/>
                <a:gd name="T2" fmla="*/ 1030 w 1089"/>
                <a:gd name="T3" fmla="*/ 0 h 2285"/>
                <a:gd name="T4" fmla="*/ 1089 w 1089"/>
                <a:gd name="T5" fmla="*/ 0 h 2285"/>
                <a:gd name="T6" fmla="*/ 37 w 1089"/>
                <a:gd name="T7" fmla="*/ 2285 h 2285"/>
                <a:gd name="T8" fmla="*/ 0 w 1089"/>
                <a:gd name="T9" fmla="*/ 2265 h 2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2" name="Rectangle 14">
              <a:extLst>
                <a:ext uri="{FF2B5EF4-FFF2-40B4-BE49-F238E27FC236}">
                  <a16:creationId xmlns:a16="http://schemas.microsoft.com/office/drawing/2014/main" id="{4E9049FF-D178-9A34-5A70-CCE84375B4E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910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3" name="Freeform 15">
              <a:extLst>
                <a:ext uri="{FF2B5EF4-FFF2-40B4-BE49-F238E27FC236}">
                  <a16:creationId xmlns:a16="http://schemas.microsoft.com/office/drawing/2014/main" id="{1C023184-DED8-C32B-D8D8-C365D4F6FD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632" y="3956"/>
              <a:ext cx="1737" cy="382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4" name="Freeform 16">
              <a:extLst>
                <a:ext uri="{FF2B5EF4-FFF2-40B4-BE49-F238E27FC236}">
                  <a16:creationId xmlns:a16="http://schemas.microsoft.com/office/drawing/2014/main" id="{C99A4E29-7FFB-CA6E-3278-1E9E81FA3F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56"/>
              <a:ext cx="1737" cy="381"/>
            </a:xfrm>
            <a:custGeom>
              <a:avLst/>
              <a:gdLst>
                <a:gd name="T0" fmla="*/ 494 w 1737"/>
                <a:gd name="T1" fmla="*/ 4309 h 4320"/>
                <a:gd name="T2" fmla="*/ 1737 w 1737"/>
                <a:gd name="T3" fmla="*/ 4320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09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5" name="Freeform 17">
              <a:extLst>
                <a:ext uri="{FF2B5EF4-FFF2-40B4-BE49-F238E27FC236}">
                  <a16:creationId xmlns:a16="http://schemas.microsoft.com/office/drawing/2014/main" id="{C9641851-5756-72D5-F228-F01F5C8718A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744" y="3956"/>
              <a:ext cx="1739" cy="382"/>
            </a:xfrm>
            <a:custGeom>
              <a:avLst/>
              <a:gdLst>
                <a:gd name="T0" fmla="*/ 494 w 1739"/>
                <a:gd name="T1" fmla="*/ 4415 h 4420"/>
                <a:gd name="T2" fmla="*/ 1739 w 1739"/>
                <a:gd name="T3" fmla="*/ 442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415 h 4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6" name="Freeform 18">
              <a:extLst>
                <a:ext uri="{FF2B5EF4-FFF2-40B4-BE49-F238E27FC236}">
                  <a16:creationId xmlns:a16="http://schemas.microsoft.com/office/drawing/2014/main" id="{33830185-43A2-4B95-F6E9-1D730678A1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920" y="3956"/>
              <a:ext cx="2080" cy="381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38 h 4338"/>
                <a:gd name="T4" fmla="*/ 2080 w 2080"/>
                <a:gd name="T5" fmla="*/ 4338 h 4338"/>
                <a:gd name="T6" fmla="*/ 1033 w 2080"/>
                <a:gd name="T7" fmla="*/ 0 h 4338"/>
                <a:gd name="T8" fmla="*/ 0 w 2080"/>
                <a:gd name="T9" fmla="*/ 7 h 4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7" name="Rectangle 19">
              <a:extLst>
                <a:ext uri="{FF2B5EF4-FFF2-40B4-BE49-F238E27FC236}">
                  <a16:creationId xmlns:a16="http://schemas.microsoft.com/office/drawing/2014/main" id="{797F720E-9380-7BF2-2909-0E4D7AB7B25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905"/>
              <a:ext cx="5760" cy="43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8" name="Freeform 20">
              <a:extLst>
                <a:ext uri="{FF2B5EF4-FFF2-40B4-BE49-F238E27FC236}">
                  <a16:creationId xmlns:a16="http://schemas.microsoft.com/office/drawing/2014/main" id="{59AA1A93-7616-9E21-54B4-E3EE34A261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583" y="3918"/>
              <a:ext cx="1036" cy="420"/>
            </a:xfrm>
            <a:custGeom>
              <a:avLst/>
              <a:gdLst>
                <a:gd name="T0" fmla="*/ 1027 w 1036"/>
                <a:gd name="T1" fmla="*/ 0 h 420"/>
                <a:gd name="T2" fmla="*/ 0 w 1036"/>
                <a:gd name="T3" fmla="*/ 417 h 420"/>
                <a:gd name="T4" fmla="*/ 24 w 1036"/>
                <a:gd name="T5" fmla="*/ 420 h 420"/>
                <a:gd name="T6" fmla="*/ 1036 w 1036"/>
                <a:gd name="T7" fmla="*/ 16 h 420"/>
                <a:gd name="T8" fmla="*/ 1027 w 1036"/>
                <a:gd name="T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49" name="Freeform 21">
              <a:extLst>
                <a:ext uri="{FF2B5EF4-FFF2-40B4-BE49-F238E27FC236}">
                  <a16:creationId xmlns:a16="http://schemas.microsoft.com/office/drawing/2014/main" id="{4A35EE3F-1ABA-DFAC-20D3-46E83413E4E1}"/>
                </a:ext>
              </a:extLst>
            </p:cNvPr>
            <p:cNvSpPr>
              <a:spLocks/>
            </p:cNvSpPr>
            <p:nvPr/>
          </p:nvSpPr>
          <p:spPr bwMode="hidden">
            <a:xfrm rot="18897039" flipH="1">
              <a:off x="1486" y="3886"/>
              <a:ext cx="1060" cy="480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0" name="Freeform 22">
              <a:extLst>
                <a:ext uri="{FF2B5EF4-FFF2-40B4-BE49-F238E27FC236}">
                  <a16:creationId xmlns:a16="http://schemas.microsoft.com/office/drawing/2014/main" id="{C2E5EBB0-43C5-7114-418E-F0F847460B8B}"/>
                </a:ext>
              </a:extLst>
            </p:cNvPr>
            <p:cNvSpPr>
              <a:spLocks/>
            </p:cNvSpPr>
            <p:nvPr/>
          </p:nvSpPr>
          <p:spPr bwMode="hidden">
            <a:xfrm rot="18897039" flipH="1">
              <a:off x="766" y="3886"/>
              <a:ext cx="1060" cy="480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1" name="Freeform 23">
              <a:extLst>
                <a:ext uri="{FF2B5EF4-FFF2-40B4-BE49-F238E27FC236}">
                  <a16:creationId xmlns:a16="http://schemas.microsoft.com/office/drawing/2014/main" id="{5EDEF8EF-8271-C0D4-9F9F-206D70D5A393}"/>
                </a:ext>
              </a:extLst>
            </p:cNvPr>
            <p:cNvSpPr>
              <a:spLocks/>
            </p:cNvSpPr>
            <p:nvPr/>
          </p:nvSpPr>
          <p:spPr bwMode="hidden">
            <a:xfrm rot="18897039" flipH="1">
              <a:off x="31" y="3854"/>
              <a:ext cx="1034" cy="487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2" name="Freeform 24">
              <a:extLst>
                <a:ext uri="{FF2B5EF4-FFF2-40B4-BE49-F238E27FC236}">
                  <a16:creationId xmlns:a16="http://schemas.microsoft.com/office/drawing/2014/main" id="{47E788E8-7172-3BC5-1958-95B84C632B81}"/>
                </a:ext>
              </a:extLst>
            </p:cNvPr>
            <p:cNvSpPr>
              <a:spLocks/>
            </p:cNvSpPr>
            <p:nvPr/>
          </p:nvSpPr>
          <p:spPr bwMode="hidden">
            <a:xfrm flipH="1" flipV="1">
              <a:off x="576" y="3910"/>
              <a:ext cx="3552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3" name="Freeform 25">
              <a:extLst>
                <a:ext uri="{FF2B5EF4-FFF2-40B4-BE49-F238E27FC236}">
                  <a16:creationId xmlns:a16="http://schemas.microsoft.com/office/drawing/2014/main" id="{FB0A726D-A52B-58B2-C623-BB024F2C5E84}"/>
                </a:ext>
              </a:extLst>
            </p:cNvPr>
            <p:cNvSpPr>
              <a:spLocks/>
            </p:cNvSpPr>
            <p:nvPr/>
          </p:nvSpPr>
          <p:spPr bwMode="hidden">
            <a:xfrm flipH="1" flipV="1">
              <a:off x="240" y="3910"/>
              <a:ext cx="1536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4" name="Freeform 26">
              <a:extLst>
                <a:ext uri="{FF2B5EF4-FFF2-40B4-BE49-F238E27FC236}">
                  <a16:creationId xmlns:a16="http://schemas.microsoft.com/office/drawing/2014/main" id="{B4D4BF02-83C6-5764-D13C-F5D9D9AE7E7C}"/>
                </a:ext>
              </a:extLst>
            </p:cNvPr>
            <p:cNvSpPr>
              <a:spLocks/>
            </p:cNvSpPr>
            <p:nvPr/>
          </p:nvSpPr>
          <p:spPr bwMode="hidden">
            <a:xfrm flipH="1" flipV="1">
              <a:off x="3036" y="3958"/>
              <a:ext cx="1332" cy="383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5" name="Freeform 27">
              <a:extLst>
                <a:ext uri="{FF2B5EF4-FFF2-40B4-BE49-F238E27FC236}">
                  <a16:creationId xmlns:a16="http://schemas.microsoft.com/office/drawing/2014/main" id="{3A0D1C4A-473F-1AAC-7CF8-A2CEBD866EEC}"/>
                </a:ext>
              </a:extLst>
            </p:cNvPr>
            <p:cNvSpPr>
              <a:spLocks/>
            </p:cNvSpPr>
            <p:nvPr/>
          </p:nvSpPr>
          <p:spPr bwMode="hidden">
            <a:xfrm flipH="1" flipV="1">
              <a:off x="3984" y="3910"/>
              <a:ext cx="1536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6" name="Freeform 28">
              <a:extLst>
                <a:ext uri="{FF2B5EF4-FFF2-40B4-BE49-F238E27FC236}">
                  <a16:creationId xmlns:a16="http://schemas.microsoft.com/office/drawing/2014/main" id="{147ECD03-2320-019D-9246-A4D373C5814C}"/>
                </a:ext>
              </a:extLst>
            </p:cNvPr>
            <p:cNvSpPr>
              <a:spLocks/>
            </p:cNvSpPr>
            <p:nvPr/>
          </p:nvSpPr>
          <p:spPr bwMode="hidden">
            <a:xfrm flipH="1" flipV="1">
              <a:off x="3456" y="3910"/>
              <a:ext cx="2304" cy="432"/>
            </a:xfrm>
            <a:custGeom>
              <a:avLst/>
              <a:gdLst>
                <a:gd name="T0" fmla="*/ 0 w 4763"/>
                <a:gd name="T1" fmla="*/ 1778 h 1845"/>
                <a:gd name="T2" fmla="*/ 4742 w 4763"/>
                <a:gd name="T3" fmla="*/ 0 h 1845"/>
                <a:gd name="T4" fmla="*/ 4763 w 4763"/>
                <a:gd name="T5" fmla="*/ 42 h 1845"/>
                <a:gd name="T6" fmla="*/ 20 w 4763"/>
                <a:gd name="T7" fmla="*/ 1845 h 1845"/>
                <a:gd name="T8" fmla="*/ 0 w 4763"/>
                <a:gd name="T9" fmla="*/ 177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7" name="Rectangle 29">
              <a:extLst>
                <a:ext uri="{FF2B5EF4-FFF2-40B4-BE49-F238E27FC236}">
                  <a16:creationId xmlns:a16="http://schemas.microsoft.com/office/drawing/2014/main" id="{4B05A0EA-A527-4011-542A-55936505725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931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4958" name="Rectangle 30">
            <a:extLst>
              <a:ext uri="{FF2B5EF4-FFF2-40B4-BE49-F238E27FC236}">
                <a16:creationId xmlns:a16="http://schemas.microsoft.com/office/drawing/2014/main" id="{59957D27-40CB-08EB-473D-6D0CBA366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65138"/>
            <a:ext cx="77724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24959" name="Rectangle 31">
            <a:extLst>
              <a:ext uri="{FF2B5EF4-FFF2-40B4-BE49-F238E27FC236}">
                <a16:creationId xmlns:a16="http://schemas.microsoft.com/office/drawing/2014/main" id="{25213417-6F91-2E03-B688-1E75091DD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4960" name="Rectangle 32">
            <a:extLst>
              <a:ext uri="{FF2B5EF4-FFF2-40B4-BE49-F238E27FC236}">
                <a16:creationId xmlns:a16="http://schemas.microsoft.com/office/drawing/2014/main" id="{27F555C2-1F91-E3CB-9E69-278404B68C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fld id="{A0005835-FAC1-46A5-AA91-2BB1C8B5A1A8}" type="datetime1">
              <a:rPr lang="en-US" altLang="en-US"/>
              <a:pPr/>
              <a:t>4/24/2026</a:t>
            </a:fld>
            <a:endParaRPr lang="en-US" altLang="en-US"/>
          </a:p>
        </p:txBody>
      </p:sp>
      <p:sp>
        <p:nvSpPr>
          <p:cNvPr id="124961" name="Rectangle 33">
            <a:extLst>
              <a:ext uri="{FF2B5EF4-FFF2-40B4-BE49-F238E27FC236}">
                <a16:creationId xmlns:a16="http://schemas.microsoft.com/office/drawing/2014/main" id="{FB3EBB9B-0922-41F8-E690-87E8870248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24962" name="Rectangle 34">
            <a:extLst>
              <a:ext uri="{FF2B5EF4-FFF2-40B4-BE49-F238E27FC236}">
                <a16:creationId xmlns:a16="http://schemas.microsoft.com/office/drawing/2014/main" id="{EDE6E6D5-1B38-43D5-BEFE-78C4B60393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0642EC16-0D71-40E5-B682-77B88521FE2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85000"/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415AA07E-6202-2591-3C6E-6B386DE0D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800" b="1">
                <a:solidFill>
                  <a:schemeClr val="tx2"/>
                </a:solidFill>
                <a:latin typeface="Century Gothic" panose="020B0502020202020204" pitchFamily="34" charset="0"/>
              </a:rPr>
              <a:t>“SHOW CASING A.P.”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6FA6035B-4566-9BD7-2076-BCE4195D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altLang="en-US" sz="3200">
                <a:solidFill>
                  <a:srgbClr val="FFFFFF"/>
                </a:solidFill>
                <a:latin typeface="Century Gothic" panose="020B0502020202020204" pitchFamily="34" charset="0"/>
              </a:rPr>
              <a:t>FAPCCI Seminar on</a:t>
            </a:r>
          </a:p>
          <a:p>
            <a:pPr algn="ctr">
              <a:spcBef>
                <a:spcPct val="20000"/>
              </a:spcBef>
            </a:pPr>
            <a:r>
              <a:rPr lang="en-US" altLang="en-US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“Meeting Global Outsourcing Requirement”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7604A32-18C8-8325-76D4-E0DE35AAE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r>
              <a:rPr lang="en-US" altLang="en-US" sz="1600">
                <a:latin typeface="Trebuchet MS" panose="020B0603020202020204" pitchFamily="34" charset="0"/>
              </a:rPr>
              <a:t>PRESENTATION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sz="1600">
                <a:latin typeface="Trebuchet MS" panose="020B0603020202020204" pitchFamily="34" charset="0"/>
              </a:rPr>
              <a:t>By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sz="2800" b="1">
                <a:solidFill>
                  <a:schemeClr val="tx2"/>
                </a:solidFill>
                <a:latin typeface="Trebuchet MS" panose="020B0603020202020204" pitchFamily="34" charset="0"/>
              </a:rPr>
              <a:t>DR.P.V.APPAJI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b="1">
                <a:solidFill>
                  <a:schemeClr val="tx2"/>
                </a:solidFill>
                <a:latin typeface="Trebuchet MS" panose="020B0603020202020204" pitchFamily="34" charset="0"/>
              </a:rPr>
              <a:t>M.Pharm, Ph.D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b="1">
                <a:solidFill>
                  <a:schemeClr val="tx2"/>
                </a:solidFill>
                <a:latin typeface="Trebuchet MS" panose="020B0603020202020204" pitchFamily="34" charset="0"/>
              </a:rPr>
              <a:t>EXECUTIVE DIRECTOR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>
                <a:latin typeface="Trebuchet MS" panose="020B0603020202020204" pitchFamily="34" charset="0"/>
              </a:rPr>
              <a:t>PHARMEXCIL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b="1">
                <a:latin typeface="Trebuchet MS" panose="020B0603020202020204" pitchFamily="34" charset="0"/>
              </a:rPr>
              <a:t>(PHARMACEUTICALS  EXPORT  PROMOTION  COUNCIL)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sz="1800">
                <a:latin typeface="Trebuchet MS" panose="020B0603020202020204" pitchFamily="34" charset="0"/>
              </a:rPr>
              <a:t>Set up by Ministry of Commerce and Industry</a:t>
            </a:r>
          </a:p>
          <a:p>
            <a:pPr algn="ctr" eaLnBrk="0" hangingPunct="0">
              <a:spcBef>
                <a:spcPct val="20000"/>
              </a:spcBef>
            </a:pPr>
            <a:r>
              <a:rPr lang="en-US" altLang="en-US" sz="2000" b="1">
                <a:solidFill>
                  <a:schemeClr val="tx2"/>
                </a:solidFill>
                <a:latin typeface="Trebuchet MS" panose="020B0603020202020204" pitchFamily="34" charset="0"/>
              </a:rPr>
              <a:t>GOVERNMENT OF INDIA</a:t>
            </a:r>
          </a:p>
          <a:p>
            <a:pPr algn="ctr" eaLnBrk="0" hangingPunct="0">
              <a:spcBef>
                <a:spcPct val="20000"/>
              </a:spcBef>
            </a:pPr>
            <a:endParaRPr lang="en-US" altLang="en-US" sz="900" b="1">
              <a:solidFill>
                <a:schemeClr val="tx2"/>
              </a:solidFill>
              <a:latin typeface="Trebuchet MS" panose="020B0603020202020204" pitchFamily="34" charset="0"/>
            </a:endParaRPr>
          </a:p>
          <a:p>
            <a:pPr algn="ctr">
              <a:spcBef>
                <a:spcPct val="20000"/>
              </a:spcBef>
            </a:pPr>
            <a:r>
              <a:rPr lang="en-US" altLang="en-US" sz="1800" b="1">
                <a:solidFill>
                  <a:srgbClr val="FFFFFF"/>
                </a:solidFill>
                <a:latin typeface="Century Gothic" panose="020B0502020202020204" pitchFamily="34" charset="0"/>
              </a:rPr>
              <a:t>Date: 2</a:t>
            </a:r>
            <a:r>
              <a:rPr lang="en-US" altLang="en-US" sz="1800" b="1" baseline="30000">
                <a:solidFill>
                  <a:srgbClr val="FFFFFF"/>
                </a:solidFill>
                <a:latin typeface="Century Gothic" panose="020B0502020202020204" pitchFamily="34" charset="0"/>
              </a:rPr>
              <a:t>nd</a:t>
            </a:r>
            <a:r>
              <a:rPr lang="en-US" altLang="en-US" sz="1800" b="1">
                <a:solidFill>
                  <a:srgbClr val="FFFFFF"/>
                </a:solidFill>
                <a:latin typeface="Century Gothic" panose="020B0502020202020204" pitchFamily="34" charset="0"/>
              </a:rPr>
              <a:t> &amp; 3</a:t>
            </a:r>
            <a:r>
              <a:rPr lang="en-US" altLang="en-US" sz="1800" b="1" baseline="30000">
                <a:solidFill>
                  <a:srgbClr val="FFFFFF"/>
                </a:solidFill>
                <a:latin typeface="Century Gothic" panose="020B0502020202020204" pitchFamily="34" charset="0"/>
              </a:rPr>
              <a:t>rd</a:t>
            </a:r>
            <a:r>
              <a:rPr lang="en-US" altLang="en-US" sz="1800" b="1">
                <a:solidFill>
                  <a:srgbClr val="FFFFFF"/>
                </a:solidFill>
                <a:latin typeface="Century Gothic" panose="020B0502020202020204" pitchFamily="34" charset="0"/>
              </a:rPr>
              <a:t> June 2006</a:t>
            </a:r>
            <a:endParaRPr lang="en-US" altLang="en-US" sz="2000" b="1">
              <a:solidFill>
                <a:schemeClr val="tx2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med">
    <p:zoom dir="in"/>
    <p:sndAc>
      <p:stSnd>
        <p:snd r:embed="rId3" name="Jungle Maximize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73636A0E-E4EB-325F-7981-57C76F860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72000"/>
          </a:xfrm>
          <a:noFill/>
          <a:ln/>
        </p:spPr>
        <p:txBody>
          <a:bodyPr/>
          <a:lstStyle/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200" b="1">
                <a:latin typeface="Century Gothic" panose="020B0502020202020204" pitchFamily="34" charset="0"/>
              </a:rPr>
              <a:t>                                                           MAT 12 Months to August 2005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000" b="1">
                <a:latin typeface="Century Gothic" panose="020B0502020202020204" pitchFamily="34" charset="0"/>
              </a:rPr>
              <a:t>(Sales Through Retail Pharmacies) </a:t>
            </a:r>
            <a:r>
              <a:rPr lang="en-US" altLang="en-US" sz="2200" b="1">
                <a:latin typeface="Century Gothic" panose="020B0502020202020204" pitchFamily="34" charset="0"/>
              </a:rPr>
              <a:t>    US $ Bn      % Share    % Growth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en-US" altLang="en-US" sz="2200" b="1">
              <a:latin typeface="Century Gothic" panose="020B0502020202020204" pitchFamily="34" charset="0"/>
            </a:endParaRP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600" b="1">
                <a:latin typeface="Century Gothic" panose="020B0502020202020204" pitchFamily="34" charset="0"/>
              </a:rPr>
              <a:t>United States			 180.3       49.57         +6%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600" b="1">
                <a:latin typeface="Century Gothic" panose="020B0502020202020204" pitchFamily="34" charset="0"/>
              </a:rPr>
              <a:t>Japan   			             60.7       16.69         +5%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600" b="1">
                <a:latin typeface="Century Gothic" panose="020B0502020202020204" pitchFamily="34" charset="0"/>
              </a:rPr>
              <a:t>Germany				   26.9         7.40         +6%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600" b="1">
                <a:latin typeface="Century Gothic" panose="020B0502020202020204" pitchFamily="34" charset="0"/>
              </a:rPr>
              <a:t>France				   22.6         6.21         +5%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600" b="1">
                <a:latin typeface="Century Gothic" panose="020B0502020202020204" pitchFamily="34" charset="0"/>
              </a:rPr>
              <a:t>United Kingdom			   15.5	4.26          0%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600" b="1">
                <a:latin typeface="Century Gothic" panose="020B0502020202020204" pitchFamily="34" charset="0"/>
              </a:rPr>
              <a:t>Selected World		         363.70      100.00 	     +7%</a:t>
            </a: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en-US" altLang="en-US" sz="2600" b="1">
              <a:latin typeface="Century Gothic" panose="020B0502020202020204" pitchFamily="34" charset="0"/>
            </a:endParaRPr>
          </a:p>
          <a:p>
            <a:pPr algn="r"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en-US" altLang="en-US" sz="2600" b="1">
              <a:latin typeface="Century Gothic" panose="020B0502020202020204" pitchFamily="34" charset="0"/>
            </a:endParaRPr>
          </a:p>
          <a:p>
            <a:pPr eaLnBrk="0" hangingPunct="0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1400" b="1">
                <a:latin typeface="Century Gothic" panose="020B0502020202020204" pitchFamily="34" charset="0"/>
              </a:rPr>
              <a:t>Source Data :IMS Health</a:t>
            </a:r>
          </a:p>
        </p:txBody>
      </p:sp>
      <p:pic>
        <p:nvPicPr>
          <p:cNvPr id="251907" name="Picture 3">
            <a:extLst>
              <a:ext uri="{FF2B5EF4-FFF2-40B4-BE49-F238E27FC236}">
                <a16:creationId xmlns:a16="http://schemas.microsoft.com/office/drawing/2014/main" id="{65F74A2F-186A-E1B3-A521-6074D23D2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1908" name="Rectangle 4">
            <a:extLst>
              <a:ext uri="{FF2B5EF4-FFF2-40B4-BE49-F238E27FC236}">
                <a16:creationId xmlns:a16="http://schemas.microsoft.com/office/drawing/2014/main" id="{AAA4D078-51F6-6EC6-4F88-E3BCF52D9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9067800" cy="609600"/>
          </a:xfrm>
        </p:spPr>
        <p:txBody>
          <a:bodyPr/>
          <a:lstStyle/>
          <a:p>
            <a:r>
              <a:rPr lang="en-US" altLang="en-US" sz="3400" b="1">
                <a:latin typeface="Century Gothic" panose="020B0502020202020204" pitchFamily="34" charset="0"/>
              </a:rPr>
              <a:t>Global Pharmaceutical Audited Market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1026">
            <a:extLst>
              <a:ext uri="{FF2B5EF4-FFF2-40B4-BE49-F238E27FC236}">
                <a16:creationId xmlns:a16="http://schemas.microsoft.com/office/drawing/2014/main" id="{D8CE3027-34F1-3109-9930-5A401406C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4864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Manufactures over 400 APIs ( Bulk Drugs 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0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Manufactures over 10,000 Medicaments (Formulations)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0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Almost self Sufficient (95%) in Domestic Requirement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0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Total Pharmaceuticals Production $8.0 Bn (Approximate)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0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Ranks 4</a:t>
            </a:r>
            <a:r>
              <a:rPr lang="en-US" altLang="en-US" sz="2800" b="1" baseline="30000">
                <a:latin typeface="Century Gothic" panose="020B0502020202020204" pitchFamily="34" charset="0"/>
              </a:rPr>
              <a:t>th </a:t>
            </a:r>
            <a:r>
              <a:rPr lang="en-US" altLang="en-US" sz="2800" b="1">
                <a:latin typeface="Century Gothic" panose="020B0502020202020204" pitchFamily="34" charset="0"/>
              </a:rPr>
              <a:t>Globally in Volume Terms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0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Ranks 13</a:t>
            </a:r>
            <a:r>
              <a:rPr lang="en-US" altLang="en-US" sz="2800" b="1" baseline="30000">
                <a:latin typeface="Century Gothic" panose="020B0502020202020204" pitchFamily="34" charset="0"/>
              </a:rPr>
              <a:t>th</a:t>
            </a:r>
            <a:r>
              <a:rPr lang="en-US" altLang="en-US" sz="2800" b="1">
                <a:latin typeface="Century Gothic" panose="020B0502020202020204" pitchFamily="34" charset="0"/>
              </a:rPr>
              <a:t> Globally in Value Terms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0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Among TOP 5 Global Producers of Bulk Drugs</a:t>
            </a:r>
          </a:p>
        </p:txBody>
      </p:sp>
      <p:pic>
        <p:nvPicPr>
          <p:cNvPr id="242691" name="Picture 1027">
            <a:extLst>
              <a:ext uri="{FF2B5EF4-FFF2-40B4-BE49-F238E27FC236}">
                <a16:creationId xmlns:a16="http://schemas.microsoft.com/office/drawing/2014/main" id="{4078CD90-4C30-9690-93E3-5E031D1E4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2692" name="Rectangle 1028">
            <a:extLst>
              <a:ext uri="{FF2B5EF4-FFF2-40B4-BE49-F238E27FC236}">
                <a16:creationId xmlns:a16="http://schemas.microsoft.com/office/drawing/2014/main" id="{F7CC10FD-12F3-DA3B-1465-E3EFB4D99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92075"/>
            <a:ext cx="9067800" cy="762000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Indian  Pharmaceutical  Industry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>
            <a:extLst>
              <a:ext uri="{FF2B5EF4-FFF2-40B4-BE49-F238E27FC236}">
                <a16:creationId xmlns:a16="http://schemas.microsoft.com/office/drawing/2014/main" id="{2D286C01-4EDB-29A3-4B4C-97D10091D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8006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Well developed industry with strong manufacturing base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Cost competitiveness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Well-established network of laboratories and R&amp;D infrastructure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Highly trained pool of scientists and professionals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World-class quality products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Strong marketing and distribution network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Very strong process development skills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Potential ground for clinical trials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Fast growing health care industry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Rich biodiversity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latin typeface="Century Gothic" panose="020B0502020202020204" pitchFamily="34" charset="0"/>
              </a:rPr>
              <a:t>A growing biotechnology industry</a:t>
            </a:r>
          </a:p>
        </p:txBody>
      </p:sp>
      <p:pic>
        <p:nvPicPr>
          <p:cNvPr id="123911" name="Picture 7">
            <a:extLst>
              <a:ext uri="{FF2B5EF4-FFF2-40B4-BE49-F238E27FC236}">
                <a16:creationId xmlns:a16="http://schemas.microsoft.com/office/drawing/2014/main" id="{32AA9E9F-524C-19FA-D816-9D5CDBFFB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913" name="Rectangle 9">
            <a:extLst>
              <a:ext uri="{FF2B5EF4-FFF2-40B4-BE49-F238E27FC236}">
                <a16:creationId xmlns:a16="http://schemas.microsoft.com/office/drawing/2014/main" id="{D110AD5A-91F4-4E82-D813-3308A5592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1431925"/>
          </a:xfrm>
        </p:spPr>
        <p:txBody>
          <a:bodyPr/>
          <a:lstStyle/>
          <a:p>
            <a:r>
              <a:rPr lang="en-US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Indian Pharmaceutical Industry – Key Strengths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95E39C55-6A26-AA06-46BC-3D647DE06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800600"/>
          </a:xfrm>
          <a:noFill/>
          <a:ln/>
        </p:spPr>
        <p:txBody>
          <a:bodyPr/>
          <a:lstStyle/>
          <a:p>
            <a:pPr algn="r">
              <a:lnSpc>
                <a:spcPct val="90000"/>
              </a:lnSpc>
              <a:buFontTx/>
              <a:buNone/>
            </a:pPr>
            <a:r>
              <a:rPr lang="en-US" altLang="en-US" sz="2500">
                <a:latin typeface="Book Antiqua" panose="02040602050305030304" pitchFamily="18" charset="0"/>
              </a:rPr>
              <a:t>COMPANIES / FACILITIES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3300">
                <a:latin typeface="Book Antiqua" panose="02040602050305030304" pitchFamily="18" charset="0"/>
              </a:rPr>
              <a:t>	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3300">
                <a:latin typeface="Book Antiqua" panose="02040602050305030304" pitchFamily="18" charset="0"/>
              </a:rPr>
              <a:t> 	     </a:t>
            </a:r>
            <a:r>
              <a:rPr lang="en-US" altLang="en-US" sz="2900" b="1">
                <a:latin typeface="Book Antiqua" panose="02040602050305030304" pitchFamily="18" charset="0"/>
              </a:rPr>
              <a:t>FDA - UNITED STATES	 	  75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900" b="1">
                <a:latin typeface="Book Antiqua" panose="02040602050305030304" pitchFamily="18" charset="0"/>
              </a:rPr>
              <a:t>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900" b="1">
                <a:latin typeface="Book Antiqua" panose="02040602050305030304" pitchFamily="18" charset="0"/>
              </a:rPr>
              <a:t>	      TGA - AUSTRALIA		 	  19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9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900" b="1">
                <a:latin typeface="Book Antiqua" panose="02040602050305030304" pitchFamily="18" charset="0"/>
              </a:rPr>
              <a:t>	      MCA	- SOUTH AFRICA		  45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9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900" b="1">
                <a:latin typeface="Book Antiqua" panose="02040602050305030304" pitchFamily="18" charset="0"/>
              </a:rPr>
              <a:t>	      EDQM - EUROPE 		   	    3</a:t>
            </a:r>
          </a:p>
        </p:txBody>
      </p:sp>
      <p:pic>
        <p:nvPicPr>
          <p:cNvPr id="231427" name="Picture 3">
            <a:extLst>
              <a:ext uri="{FF2B5EF4-FFF2-40B4-BE49-F238E27FC236}">
                <a16:creationId xmlns:a16="http://schemas.microsoft.com/office/drawing/2014/main" id="{B5FA6702-A031-0A28-8D7B-CE6702951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428" name="Rectangle 4">
            <a:extLst>
              <a:ext uri="{FF2B5EF4-FFF2-40B4-BE49-F238E27FC236}">
                <a16:creationId xmlns:a16="http://schemas.microsoft.com/office/drawing/2014/main" id="{FD8E65E3-4C45-C822-189E-EE2EB7D83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20650"/>
            <a:ext cx="9067800" cy="1343025"/>
          </a:xfrm>
        </p:spPr>
        <p:txBody>
          <a:bodyPr/>
          <a:lstStyle/>
          <a:p>
            <a:r>
              <a:rPr lang="en-US" altLang="en-US" sz="4100" b="1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Approvals  Received  from  Some Developed  Countries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8475FA71-3218-AB36-F1E8-998B811F4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72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Contributes over 40% to National Output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Known as Hub for Production of API’s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Over 250 Active Bulk Drug Manufacturers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Strong in process development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Presence of about 5 Top Pharma Companies in Hyderabad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Strong Biotech presence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</a:rPr>
              <a:t>Several Clinical Research / Custom Research Centres</a:t>
            </a:r>
          </a:p>
        </p:txBody>
      </p:sp>
      <p:pic>
        <p:nvPicPr>
          <p:cNvPr id="249859" name="Picture 3">
            <a:extLst>
              <a:ext uri="{FF2B5EF4-FFF2-40B4-BE49-F238E27FC236}">
                <a16:creationId xmlns:a16="http://schemas.microsoft.com/office/drawing/2014/main" id="{148D78BF-BAD6-9916-5663-F00FC9BF0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860" name="Rectangle 4">
            <a:extLst>
              <a:ext uri="{FF2B5EF4-FFF2-40B4-BE49-F238E27FC236}">
                <a16:creationId xmlns:a16="http://schemas.microsoft.com/office/drawing/2014/main" id="{045C78E3-EF28-3BC2-63C4-1C8B05355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88925"/>
            <a:ext cx="9067800" cy="823913"/>
          </a:xfrm>
        </p:spPr>
        <p:txBody>
          <a:bodyPr/>
          <a:lstStyle/>
          <a:p>
            <a:r>
              <a:rPr lang="en-US" altLang="en-US" sz="4800" b="1">
                <a:latin typeface="Century Gothic" panose="020B0502020202020204" pitchFamily="34" charset="0"/>
              </a:rPr>
              <a:t>Hyderabad in Indian Pharma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417BF4BE-F2EE-6A12-3882-3F7D3C13B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9144000" cy="6477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altLang="en-US" sz="24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Cost of discovering a drug: About $ 800 –1,000 Mn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Without cost of capital, cost is about $ 400 –500 Mn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Development phase accounts for 28% -35% of total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Developing </a:t>
            </a:r>
            <a:r>
              <a:rPr lang="en-US" altLang="en-US" sz="2800" b="1" i="1">
                <a:latin typeface="Century Gothic" panose="020B0502020202020204" pitchFamily="34" charset="0"/>
              </a:rPr>
              <a:t>a single optimized lead </a:t>
            </a:r>
            <a:r>
              <a:rPr lang="en-US" altLang="en-US" sz="2800" b="1">
                <a:latin typeface="Century Gothic" panose="020B0502020202020204" pitchFamily="34" charset="0"/>
              </a:rPr>
              <a:t>costs $ 25 –40 Mn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This includes </a:t>
            </a:r>
            <a:r>
              <a:rPr lang="en-US" altLang="en-US" sz="2800" b="1" i="1">
                <a:latin typeface="Century Gothic" panose="020B0502020202020204" pitchFamily="34" charset="0"/>
              </a:rPr>
              <a:t>both </a:t>
            </a:r>
            <a:r>
              <a:rPr lang="en-US" altLang="en-US" sz="2800" b="1">
                <a:latin typeface="Century Gothic" panose="020B0502020202020204" pitchFamily="34" charset="0"/>
              </a:rPr>
              <a:t>development and animal studies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Cost of development phase: Generating enough “promising” or “optimized” leads to go to animal trials costs $ 10 –25 Mn per study</a:t>
            </a:r>
          </a:p>
          <a:p>
            <a:pPr>
              <a:lnSpc>
                <a:spcPct val="90000"/>
              </a:lnSpc>
            </a:pPr>
            <a:r>
              <a:rPr lang="en-US" altLang="en-US" sz="2800" b="1" i="1">
                <a:latin typeface="Century Gothic" panose="020B0502020202020204" pitchFamily="34" charset="0"/>
              </a:rPr>
              <a:t>This activity is ripe for outsourcing to qualified service providers</a:t>
            </a:r>
            <a:r>
              <a:rPr lang="en-US" altLang="en-US" sz="2400" b="1" i="1">
                <a:latin typeface="Century Gothic" panose="020B0502020202020204" pitchFamily="34" charset="0"/>
              </a:rPr>
              <a:t> </a:t>
            </a:r>
            <a:endParaRPr lang="en-US" altLang="en-US" sz="24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b="1">
              <a:latin typeface="Century Gothic" panose="020B0502020202020204" pitchFamily="34" charset="0"/>
            </a:endParaRPr>
          </a:p>
        </p:txBody>
      </p:sp>
      <p:pic>
        <p:nvPicPr>
          <p:cNvPr id="289795" name="Picture 3">
            <a:extLst>
              <a:ext uri="{FF2B5EF4-FFF2-40B4-BE49-F238E27FC236}">
                <a16:creationId xmlns:a16="http://schemas.microsoft.com/office/drawing/2014/main" id="{430FCE57-37F5-84D3-234F-ACFC342B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96" name="Rectangle 4">
            <a:extLst>
              <a:ext uri="{FF2B5EF4-FFF2-40B4-BE49-F238E27FC236}">
                <a16:creationId xmlns:a16="http://schemas.microsoft.com/office/drawing/2014/main" id="{1F7CE046-E5D3-10F6-6B74-FBCC9E07A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762000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Economics of Drug Discovery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5549C1F7-BB09-DB14-5050-78C0B66DE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572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Cost of discovering a drug (defined as total R&amp;D spend divided by number of licensed NCE’s) : $ 800 – 1,000 Mn.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R&amp;D spending has doubled in past seven years.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Number of licenses issued has remained constant.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Pipelines of new drug candidates drying up.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Most revenue comes from third-party insurers.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With high profit margins, no incentive to cut costs.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Customer revolt in USA against rising cost of healthcare.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Pressure to cut cost of drug discovery.</a:t>
            </a:r>
          </a:p>
          <a:p>
            <a:pPr>
              <a:lnSpc>
                <a:spcPct val="90000"/>
              </a:lnSpc>
            </a:pPr>
            <a:r>
              <a:rPr lang="en-US" altLang="en-US" sz="2500" b="1">
                <a:latin typeface="Century Gothic" panose="020B0502020202020204" pitchFamily="34" charset="0"/>
              </a:rPr>
              <a:t>Outsourcing of discovery R&amp;D is now a serious option.</a:t>
            </a:r>
          </a:p>
        </p:txBody>
      </p:sp>
      <p:pic>
        <p:nvPicPr>
          <p:cNvPr id="286723" name="Picture 3">
            <a:extLst>
              <a:ext uri="{FF2B5EF4-FFF2-40B4-BE49-F238E27FC236}">
                <a16:creationId xmlns:a16="http://schemas.microsoft.com/office/drawing/2014/main" id="{A31A5F4D-195D-F032-18B4-C9DA30E87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24" name="Rectangle 4">
            <a:extLst>
              <a:ext uri="{FF2B5EF4-FFF2-40B4-BE49-F238E27FC236}">
                <a16:creationId xmlns:a16="http://schemas.microsoft.com/office/drawing/2014/main" id="{45E5E2E4-5F15-ACA3-8047-ED04C8DB7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25450"/>
            <a:ext cx="9067800" cy="641350"/>
          </a:xfrm>
        </p:spPr>
        <p:txBody>
          <a:bodyPr/>
          <a:lstStyle/>
          <a:p>
            <a:r>
              <a:rPr lang="en-US" altLang="en-US" sz="3600" b="1">
                <a:latin typeface="Century Gothic" panose="020B0502020202020204" pitchFamily="34" charset="0"/>
              </a:rPr>
              <a:t>Global Pharma Industry : Economics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C293B7EE-2C49-2DBB-CACA-FEADFC9BD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5791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Traditionally Pharma Companies did all four steps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Increasingly pharma companies are doing only last two steps (clinical trials and regulatory approvals + manufacturing, marketing, sales &amp; distribution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Increasing development and /or pre-clinical work are being done by small, agile “discovery” companies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Most small / medium biotech companies develop validated or optimized leads, and license these to pharma companies against future “milestone” payments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Many discovery companies are now turning to biological formulations (biotech pharma’s)</a:t>
            </a:r>
          </a:p>
        </p:txBody>
      </p:sp>
      <p:pic>
        <p:nvPicPr>
          <p:cNvPr id="288771" name="Picture 3">
            <a:extLst>
              <a:ext uri="{FF2B5EF4-FFF2-40B4-BE49-F238E27FC236}">
                <a16:creationId xmlns:a16="http://schemas.microsoft.com/office/drawing/2014/main" id="{1A884BAD-FFAA-8E9E-6594-9EE35D5B9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772" name="Rectangle 4">
            <a:extLst>
              <a:ext uri="{FF2B5EF4-FFF2-40B4-BE49-F238E27FC236}">
                <a16:creationId xmlns:a16="http://schemas.microsoft.com/office/drawing/2014/main" id="{ECB3E8F0-41AC-922E-D532-7DE4A7A6B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641350"/>
          </a:xfrm>
        </p:spPr>
        <p:txBody>
          <a:bodyPr/>
          <a:lstStyle/>
          <a:p>
            <a:r>
              <a:rPr lang="en-US" altLang="en-US" sz="3600" b="1">
                <a:latin typeface="Century Gothic" panose="020B0502020202020204" pitchFamily="34" charset="0"/>
              </a:rPr>
              <a:t>Drug Discovery : Changing Landscape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555" name="Picture 3">
            <a:extLst>
              <a:ext uri="{FF2B5EF4-FFF2-40B4-BE49-F238E27FC236}">
                <a16:creationId xmlns:a16="http://schemas.microsoft.com/office/drawing/2014/main" id="{AEDCDF34-CAE4-A5F0-D61C-E603F066C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9556" name="Rectangle 4">
            <a:extLst>
              <a:ext uri="{FF2B5EF4-FFF2-40B4-BE49-F238E27FC236}">
                <a16:creationId xmlns:a16="http://schemas.microsoft.com/office/drawing/2014/main" id="{7BBD9FFF-CB6E-F940-D5C0-970FDEFF6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41313"/>
            <a:ext cx="9067800" cy="717550"/>
          </a:xfrm>
        </p:spPr>
        <p:txBody>
          <a:bodyPr/>
          <a:lstStyle/>
          <a:p>
            <a:r>
              <a:rPr lang="en-US" altLang="en-US" sz="4100" b="1">
                <a:latin typeface="Century Gothic" panose="020B0502020202020204" pitchFamily="34" charset="0"/>
              </a:rPr>
              <a:t>Generics : Focus Area</a:t>
            </a:r>
          </a:p>
        </p:txBody>
      </p:sp>
      <p:sp>
        <p:nvSpPr>
          <p:cNvPr id="279586" name="Rectangle 34">
            <a:extLst>
              <a:ext uri="{FF2B5EF4-FFF2-40B4-BE49-F238E27FC236}">
                <a16:creationId xmlns:a16="http://schemas.microsoft.com/office/drawing/2014/main" id="{04750279-5E97-AA64-79B3-AC3D62ED6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446213"/>
            <a:ext cx="6932613" cy="1927225"/>
          </a:xfrm>
          <a:noFill/>
          <a:ln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000" b="1" i="1">
                <a:latin typeface="Century Gothic" panose="020B0502020202020204" pitchFamily="34" charset="0"/>
              </a:rPr>
              <a:t>Generics Market– over USD 46 billion</a:t>
            </a:r>
          </a:p>
          <a:p>
            <a:pPr>
              <a:lnSpc>
                <a:spcPct val="90000"/>
              </a:lnSpc>
            </a:pPr>
            <a:endParaRPr lang="en-US" altLang="en-US" sz="1000" b="1" u="sng">
              <a:latin typeface="Century Gothic" panose="020B0502020202020204" pitchFamily="34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b="1" i="1">
                <a:latin typeface="Century Gothic" panose="020B0502020202020204" pitchFamily="34" charset="0"/>
              </a:rPr>
              <a:t>North America		:	USD 13.5 Billion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b="1" i="1">
                <a:latin typeface="Century Gothic" panose="020B0502020202020204" pitchFamily="34" charset="0"/>
              </a:rPr>
              <a:t>EU 		                     	:	USD 8 Billion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b="1" i="1">
                <a:latin typeface="Century Gothic" panose="020B0502020202020204" pitchFamily="34" charset="0"/>
              </a:rPr>
              <a:t>Japan             		:	USD 5 Billion 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b="1" i="1">
                <a:latin typeface="Century Gothic" panose="020B0502020202020204" pitchFamily="34" charset="0"/>
              </a:rPr>
              <a:t>ROW              		:	USD 16 Billion </a:t>
            </a:r>
            <a:endParaRPr lang="en-US" altLang="en-US" sz="1000" b="1">
              <a:latin typeface="Century Gothic" panose="020B0502020202020204" pitchFamily="34" charset="0"/>
            </a:endParaRPr>
          </a:p>
        </p:txBody>
      </p:sp>
      <p:graphicFrame>
        <p:nvGraphicFramePr>
          <p:cNvPr id="279623" name="Group 71">
            <a:extLst>
              <a:ext uri="{FF2B5EF4-FFF2-40B4-BE49-F238E27FC236}">
                <a16:creationId xmlns:a16="http://schemas.microsoft.com/office/drawing/2014/main" id="{2BCCEAC6-940A-C9CD-D85A-ED93D35F5B42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4191000"/>
          <a:ext cx="7069138" cy="1841500"/>
        </p:xfrm>
        <a:graphic>
          <a:graphicData uri="http://schemas.openxmlformats.org/drawingml/2006/table">
            <a:tbl>
              <a:tblPr/>
              <a:tblGrid>
                <a:gridCol w="2355850">
                  <a:extLst>
                    <a:ext uri="{9D8B030D-6E8A-4147-A177-3AD203B41FA5}">
                      <a16:colId xmlns:a16="http://schemas.microsoft.com/office/drawing/2014/main" val="505244151"/>
                    </a:ext>
                  </a:extLst>
                </a:gridCol>
                <a:gridCol w="2357438">
                  <a:extLst>
                    <a:ext uri="{9D8B030D-6E8A-4147-A177-3AD203B41FA5}">
                      <a16:colId xmlns:a16="http://schemas.microsoft.com/office/drawing/2014/main" val="1619390738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4153823346"/>
                    </a:ext>
                  </a:extLst>
                </a:gridCol>
              </a:tblGrid>
              <a:tr h="514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Year</a:t>
                      </a:r>
                    </a:p>
                  </a:txBody>
                  <a:tcPr marL="82471" marR="82471" marT="41235" marB="412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No. of Molecules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Value (US$ Bn)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770229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2004</a:t>
                      </a:r>
                    </a:p>
                  </a:txBody>
                  <a:tcPr marL="82471" marR="82471" marT="41235" marB="412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19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17.2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717497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2005</a:t>
                      </a:r>
                    </a:p>
                  </a:txBody>
                  <a:tcPr marL="82471" marR="82471" marT="41235" marB="412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18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7.4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826213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2006</a:t>
                      </a:r>
                    </a:p>
                  </a:txBody>
                  <a:tcPr marL="82471" marR="82471" marT="41235" marB="412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18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14.9</a:t>
                      </a:r>
                    </a:p>
                  </a:txBody>
                  <a:tcPr marL="82471" marR="82471" marT="41235" marB="412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960513"/>
                  </a:ext>
                </a:extLst>
              </a:tr>
            </a:tbl>
          </a:graphicData>
        </a:graphic>
      </p:graphicFrame>
      <p:sp>
        <p:nvSpPr>
          <p:cNvPr id="279613" name="Text Box 61">
            <a:extLst>
              <a:ext uri="{FF2B5EF4-FFF2-40B4-BE49-F238E27FC236}">
                <a16:creationId xmlns:a16="http://schemas.microsoft.com/office/drawing/2014/main" id="{4F0F0DBF-D4C4-E368-2DEA-D7B839B06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590925"/>
            <a:ext cx="60198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471" tIns="41235" rIns="82471" bIns="41235">
            <a:spAutoFit/>
          </a:bodyPr>
          <a:lstStyle>
            <a:lvl1pPr defTabSz="825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12750" defTabSz="825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25500" defTabSz="825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35075" defTabSz="825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649413" defTabSz="825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06613" defTabSz="8255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563813" defTabSz="8255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21013" defTabSz="8255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78213" defTabSz="8255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i="1">
                <a:latin typeface="Century Gothic" panose="020B0502020202020204" pitchFamily="34" charset="0"/>
                <a:cs typeface="Times New Roman" panose="02020603050405020304" pitchFamily="18" charset="0"/>
              </a:rPr>
              <a:t>Trend of Molecules going off-patent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9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7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7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61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C7606A88-FBFC-C43C-1715-2E094D3AD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848600" cy="457200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altLang="en-US" sz="2500" b="1">
              <a:latin typeface="Century Gothic" panose="020B0502020202020204" pitchFamily="34" charset="0"/>
            </a:endParaRPr>
          </a:p>
          <a:p>
            <a:r>
              <a:rPr lang="en-US" altLang="en-US" sz="2500" b="1">
                <a:latin typeface="Century Gothic" panose="020B0502020202020204" pitchFamily="34" charset="0"/>
              </a:rPr>
              <a:t>Extensive and Continued Consolidation of Big Pharma</a:t>
            </a:r>
          </a:p>
          <a:p>
            <a:endParaRPr lang="en-US" altLang="en-US" sz="2500" b="1">
              <a:latin typeface="Century Gothic" panose="020B0502020202020204" pitchFamily="34" charset="0"/>
            </a:endParaRPr>
          </a:p>
          <a:p>
            <a:r>
              <a:rPr lang="en-US" altLang="en-US" sz="2500" b="1">
                <a:latin typeface="Century Gothic" panose="020B0502020202020204" pitchFamily="34" charset="0"/>
              </a:rPr>
              <a:t>Spin-off of non-strategic assets and businesses</a:t>
            </a:r>
          </a:p>
          <a:p>
            <a:pPr lvl="1"/>
            <a:r>
              <a:rPr lang="en-US" altLang="en-US" sz="2000" b="1">
                <a:latin typeface="Century Gothic" panose="020B0502020202020204" pitchFamily="34" charset="0"/>
              </a:rPr>
              <a:t>R&amp;D Centers</a:t>
            </a:r>
          </a:p>
          <a:p>
            <a:pPr lvl="1"/>
            <a:r>
              <a:rPr lang="en-US" altLang="en-US" sz="2000" b="1">
                <a:latin typeface="Century Gothic" panose="020B0502020202020204" pitchFamily="34" charset="0"/>
              </a:rPr>
              <a:t>Manufacturing Plants</a:t>
            </a:r>
          </a:p>
          <a:p>
            <a:pPr lvl="1"/>
            <a:r>
              <a:rPr lang="en-US" altLang="en-US" sz="2000" b="1">
                <a:latin typeface="Century Gothic" panose="020B0502020202020204" pitchFamily="34" charset="0"/>
              </a:rPr>
              <a:t>Chemical Synthesis plants</a:t>
            </a:r>
          </a:p>
          <a:p>
            <a:pPr lvl="1"/>
            <a:r>
              <a:rPr lang="en-US" altLang="en-US" sz="2000" b="1">
                <a:latin typeface="Century Gothic" panose="020B0502020202020204" pitchFamily="34" charset="0"/>
              </a:rPr>
              <a:t>Office Buildings</a:t>
            </a:r>
          </a:p>
          <a:p>
            <a:pPr lvl="1"/>
            <a:r>
              <a:rPr lang="en-US" altLang="en-US" sz="2000" b="1">
                <a:latin typeface="Century Gothic" panose="020B0502020202020204" pitchFamily="34" charset="0"/>
              </a:rPr>
              <a:t>Personnel</a:t>
            </a:r>
          </a:p>
          <a:p>
            <a:pPr lvl="1"/>
            <a:r>
              <a:rPr lang="en-US" altLang="en-US" sz="2000" b="1">
                <a:latin typeface="Century Gothic" panose="020B0502020202020204" pitchFamily="34" charset="0"/>
              </a:rPr>
              <a:t>Warehouses</a:t>
            </a:r>
          </a:p>
        </p:txBody>
      </p:sp>
      <p:pic>
        <p:nvPicPr>
          <p:cNvPr id="285699" name="Picture 3">
            <a:extLst>
              <a:ext uri="{FF2B5EF4-FFF2-40B4-BE49-F238E27FC236}">
                <a16:creationId xmlns:a16="http://schemas.microsoft.com/office/drawing/2014/main" id="{5DAEE111-A507-E16D-31F5-A60612874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5702" name="Rectangle 6">
            <a:extLst>
              <a:ext uri="{FF2B5EF4-FFF2-40B4-BE49-F238E27FC236}">
                <a16:creationId xmlns:a16="http://schemas.microsoft.com/office/drawing/2014/main" id="{A65F820C-3E2F-9B22-5577-2A9066803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09575"/>
            <a:ext cx="9067800" cy="579438"/>
          </a:xfrm>
          <a:noFill/>
          <a:ln/>
        </p:spPr>
        <p:txBody>
          <a:bodyPr/>
          <a:lstStyle/>
          <a:p>
            <a:r>
              <a:rPr lang="en-US" altLang="en-US" sz="3200" b="1">
                <a:latin typeface="Century Gothic" panose="020B0502020202020204" pitchFamily="34" charset="0"/>
              </a:rPr>
              <a:t>Key Trends in the Pharmaceutical Industry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C20498D5-34EA-F13E-9017-2A3CD5E37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3276600"/>
          </a:xfrm>
          <a:noFill/>
          <a:ln/>
        </p:spPr>
        <p:txBody>
          <a:bodyPr/>
          <a:lstStyle/>
          <a:p>
            <a:endParaRPr lang="en-US" altLang="en-US" sz="2800" b="1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Outsourcing in pharmaceuticals is broadly divided into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manufacturing outsourcing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development outsourcing 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customised chemistry services.</a:t>
            </a:r>
            <a:endParaRPr lang="en-US" altLang="en-US" sz="2800" b="1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8051" name="Picture 3">
            <a:extLst>
              <a:ext uri="{FF2B5EF4-FFF2-40B4-BE49-F238E27FC236}">
                <a16:creationId xmlns:a16="http://schemas.microsoft.com/office/drawing/2014/main" id="{57EF8B3E-DAE9-91C9-4DE9-808531F18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8052" name="Rectangle 4">
            <a:extLst>
              <a:ext uri="{FF2B5EF4-FFF2-40B4-BE49-F238E27FC236}">
                <a16:creationId xmlns:a16="http://schemas.microsoft.com/office/drawing/2014/main" id="{26644857-8D09-6364-0BE3-0A37D3AA7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9067800" cy="762000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Outsourcing &amp; Pharma..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A06DA5B0-E9FE-8436-F299-499A589F0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72000"/>
          </a:xfrm>
          <a:noFill/>
          <a:ln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Manufacturing outsourcing will involve the supply of active pharmaceutical ingredients / intermediaries.</a:t>
            </a:r>
          </a:p>
          <a:p>
            <a:pPr eaLnBrk="0" hangingPunct="0">
              <a:lnSpc>
                <a:spcPct val="90000"/>
              </a:lnSpc>
              <a:buFontTx/>
              <a:buNone/>
            </a:pPr>
            <a:endParaRPr lang="en-US" altLang="en-US" sz="2800" b="1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Development outsourcing will involve pre clinical and clinical trials</a:t>
            </a:r>
          </a:p>
          <a:p>
            <a:pPr eaLnBrk="0" hangingPunct="0">
              <a:lnSpc>
                <a:spcPct val="90000"/>
              </a:lnSpc>
              <a:buFontTx/>
              <a:buNone/>
            </a:pPr>
            <a:endParaRPr lang="en-US" altLang="en-US" sz="2800" b="1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  <a:cs typeface="Arial" panose="020B0604020202020204" pitchFamily="34" charset="0"/>
              </a:rPr>
              <a:t>Customised chemistry services will involve contract research for molecules in the pre launch stage.</a:t>
            </a:r>
            <a:endParaRPr lang="en-US" altLang="en-US" sz="2800" b="1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9075" name="Picture 3">
            <a:extLst>
              <a:ext uri="{FF2B5EF4-FFF2-40B4-BE49-F238E27FC236}">
                <a16:creationId xmlns:a16="http://schemas.microsoft.com/office/drawing/2014/main" id="{5D2037D4-4121-9E6C-9A5B-4015B624A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9078" name="Rectangle 6">
            <a:extLst>
              <a:ext uri="{FF2B5EF4-FFF2-40B4-BE49-F238E27FC236}">
                <a16:creationId xmlns:a16="http://schemas.microsoft.com/office/drawing/2014/main" id="{29F530D6-64B8-0728-F853-DAF634C82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9067800" cy="762000"/>
          </a:xfrm>
          <a:noFill/>
          <a:ln/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Outsourcing &amp; Pharma..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806E6A38-5824-BEFE-F230-4E8E5BAF8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72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Research &amp; Development- </a:t>
            </a:r>
            <a:r>
              <a:rPr lang="en-US" altLang="en-US" sz="2400" b="1" i="1">
                <a:latin typeface="Century Gothic" panose="020B0502020202020204" pitchFamily="34" charset="0"/>
              </a:rPr>
              <a:t>74% of offshored employment</a:t>
            </a:r>
            <a:r>
              <a:rPr lang="en-US" altLang="en-US" sz="2000" b="1">
                <a:latin typeface="Century Gothic" panose="020B050202020202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Clinical Trials- </a:t>
            </a:r>
            <a:r>
              <a:rPr lang="en-US" altLang="en-US" sz="2400" b="1" i="1">
                <a:latin typeface="Century Gothic" panose="020B0502020202020204" pitchFamily="34" charset="0"/>
              </a:rPr>
              <a:t>worth (US$75 million for the year  			     2005…estimated at US$281 million by 2010)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Data Management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Medical writing,Drug Discovery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Contract Manufacturing- </a:t>
            </a:r>
            <a:r>
              <a:rPr lang="en-US" altLang="en-US" sz="2400" b="1" i="1">
                <a:latin typeface="Century Gothic" panose="020B0502020202020204" pitchFamily="34" charset="0"/>
              </a:rPr>
              <a:t>first Indian companies to enter into- Ranbaxy Laboratories &amp; Lupin Laboratories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Clinical Research / Clinical Trials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Contract Research &amp; Manufacturing Services(CRAMS)</a:t>
            </a:r>
          </a:p>
          <a:p>
            <a:pPr>
              <a:lnSpc>
                <a:spcPct val="90000"/>
              </a:lnSpc>
            </a:pPr>
            <a:endParaRPr lang="en-US" altLang="en-US" sz="2800" b="1">
              <a:latin typeface="Century Gothic" panose="020B0502020202020204" pitchFamily="34" charset="0"/>
            </a:endParaRPr>
          </a:p>
        </p:txBody>
      </p:sp>
      <p:pic>
        <p:nvPicPr>
          <p:cNvPr id="260099" name="Picture 3">
            <a:extLst>
              <a:ext uri="{FF2B5EF4-FFF2-40B4-BE49-F238E27FC236}">
                <a16:creationId xmlns:a16="http://schemas.microsoft.com/office/drawing/2014/main" id="{D9C6FF19-6992-6EA0-89C2-510F04D6D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0100" name="Rectangle 4">
            <a:extLst>
              <a:ext uri="{FF2B5EF4-FFF2-40B4-BE49-F238E27FC236}">
                <a16:creationId xmlns:a16="http://schemas.microsoft.com/office/drawing/2014/main" id="{37C7670E-D4A1-F4DD-0345-4060574BC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9067800" cy="762000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Outsourcing &amp; Pharma..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15DA9DCA-CFA9-E2C9-6789-C58EFB5CD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720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en-US" b="1">
                <a:latin typeface="Century Gothic" panose="020B0502020202020204" pitchFamily="34" charset="0"/>
              </a:rPr>
              <a:t>Kotak estimates reports : -</a:t>
            </a:r>
          </a:p>
          <a:p>
            <a:r>
              <a:rPr lang="en-US" altLang="en-US" b="1">
                <a:latin typeface="Century Gothic" panose="020B0502020202020204" pitchFamily="34" charset="0"/>
              </a:rPr>
              <a:t>Cost of doing clinical trials in India is 40-60 per cent lower than in developed markets.</a:t>
            </a:r>
          </a:p>
          <a:p>
            <a:endParaRPr lang="en-US" altLang="en-US" b="1">
              <a:latin typeface="Century Gothic" panose="020B0502020202020204" pitchFamily="34" charset="0"/>
            </a:endParaRPr>
          </a:p>
          <a:p>
            <a:pPr>
              <a:buFontTx/>
              <a:buNone/>
            </a:pPr>
            <a:r>
              <a:rPr lang="en-US" altLang="en-US" b="1">
                <a:latin typeface="Century Gothic" panose="020B0502020202020204" pitchFamily="34" charset="0"/>
              </a:rPr>
              <a:t>CYGNUS Research quotes:-</a:t>
            </a:r>
          </a:p>
          <a:p>
            <a:r>
              <a:rPr lang="en-US" altLang="en-US" b="1">
                <a:latin typeface="Century Gothic" panose="020B0502020202020204" pitchFamily="34" charset="0"/>
              </a:rPr>
              <a:t>Cost of Manufacturing a drug in US costs 60% more to that of manufacturing the same drug in India.</a:t>
            </a:r>
          </a:p>
        </p:txBody>
      </p:sp>
      <p:pic>
        <p:nvPicPr>
          <p:cNvPr id="264195" name="Picture 3">
            <a:extLst>
              <a:ext uri="{FF2B5EF4-FFF2-40B4-BE49-F238E27FC236}">
                <a16:creationId xmlns:a16="http://schemas.microsoft.com/office/drawing/2014/main" id="{51D36D9E-2A6C-F9F2-AE59-D73093D3D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4196" name="Rectangle 4">
            <a:extLst>
              <a:ext uri="{FF2B5EF4-FFF2-40B4-BE49-F238E27FC236}">
                <a16:creationId xmlns:a16="http://schemas.microsoft.com/office/drawing/2014/main" id="{3A6B5C86-099E-A1F6-AA48-10D5C5258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067800" cy="762000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Cost Comparison:-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B53FDE3C-F711-F4DE-1FEC-A98B1CFE4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828800"/>
            <a:ext cx="9067800" cy="3657600"/>
          </a:xfrm>
          <a:noFill/>
          <a:ln/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900" b="1">
              <a:latin typeface="Century Gothic" panose="020B0502020202020204" pitchFamily="34" charset="0"/>
            </a:endParaRPr>
          </a:p>
          <a:p>
            <a:pPr marL="609600" indent="-609600">
              <a:lnSpc>
                <a:spcPct val="90000"/>
              </a:lnSpc>
            </a:pPr>
            <a:r>
              <a:rPr lang="en-US" altLang="en-US" sz="2900" b="1">
                <a:latin typeface="Century Gothic" panose="020B0502020202020204" pitchFamily="34" charset="0"/>
              </a:rPr>
              <a:t>Contract Manufacturing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900" b="1">
              <a:latin typeface="Century Gothic" panose="020B0502020202020204" pitchFamily="34" charset="0"/>
            </a:endParaRPr>
          </a:p>
          <a:p>
            <a:pPr marL="609600" indent="-609600">
              <a:lnSpc>
                <a:spcPct val="90000"/>
              </a:lnSpc>
              <a:buFontTx/>
              <a:buAutoNum type="alphaUcPeriod"/>
            </a:pPr>
            <a:r>
              <a:rPr lang="en-US" altLang="en-US" sz="2900" b="1">
                <a:latin typeface="Century Gothic" panose="020B0502020202020204" pitchFamily="34" charset="0"/>
              </a:rPr>
              <a:t>Prescription Drugs	 US$ 43.9 Bn	+10.8%</a:t>
            </a:r>
          </a:p>
          <a:p>
            <a:pPr marL="609600" indent="-609600">
              <a:lnSpc>
                <a:spcPct val="90000"/>
              </a:lnSpc>
              <a:buFontTx/>
              <a:buAutoNum type="alphaUcPeriod"/>
            </a:pPr>
            <a:r>
              <a:rPr lang="en-US" altLang="en-US" sz="2900" b="1">
                <a:latin typeface="Century Gothic" panose="020B0502020202020204" pitchFamily="34" charset="0"/>
              </a:rPr>
              <a:t>OTC Drugs			US$102.0 Bn	+11.3%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altLang="en-US" sz="2900" b="1">
              <a:latin typeface="Century Gothic" panose="020B0502020202020204" pitchFamily="34" charset="0"/>
            </a:endParaRPr>
          </a:p>
          <a:p>
            <a:pPr marL="609600" indent="-609600">
              <a:lnSpc>
                <a:spcPct val="90000"/>
              </a:lnSpc>
            </a:pPr>
            <a:r>
              <a:rPr lang="en-US" altLang="en-US" sz="2900" b="1">
                <a:latin typeface="Century Gothic" panose="020B0502020202020204" pitchFamily="34" charset="0"/>
              </a:rPr>
              <a:t>Contract Research 	US$ 21.9 Bn	+8.6%</a:t>
            </a:r>
            <a:endParaRPr lang="en-US" altLang="en-US" sz="2800" b="1">
              <a:latin typeface="Century Gothic" panose="020B0502020202020204" pitchFamily="34" charset="0"/>
            </a:endParaRPr>
          </a:p>
        </p:txBody>
      </p:sp>
      <p:pic>
        <p:nvPicPr>
          <p:cNvPr id="282627" name="Picture 3">
            <a:extLst>
              <a:ext uri="{FF2B5EF4-FFF2-40B4-BE49-F238E27FC236}">
                <a16:creationId xmlns:a16="http://schemas.microsoft.com/office/drawing/2014/main" id="{8C2DFDE3-FCAB-BC79-039C-D43C9BED3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2628" name="Rectangle 4">
            <a:extLst>
              <a:ext uri="{FF2B5EF4-FFF2-40B4-BE49-F238E27FC236}">
                <a16:creationId xmlns:a16="http://schemas.microsoft.com/office/drawing/2014/main" id="{AF7D1B96-66FE-86E7-726C-31CED63E1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2863"/>
            <a:ext cx="9067800" cy="1311275"/>
          </a:xfrm>
        </p:spPr>
        <p:txBody>
          <a:bodyPr/>
          <a:lstStyle/>
          <a:p>
            <a:r>
              <a:rPr lang="en-US" altLang="en-US" sz="4000" b="1">
                <a:latin typeface="Century Gothic" panose="020B0502020202020204" pitchFamily="34" charset="0"/>
              </a:rPr>
              <a:t>Pharma Outsourcing – Market Size</a:t>
            </a:r>
            <a:br>
              <a:rPr lang="en-US" altLang="en-US" sz="4000" b="1">
                <a:latin typeface="Century Gothic" panose="020B0502020202020204" pitchFamily="34" charset="0"/>
              </a:rPr>
            </a:br>
            <a:r>
              <a:rPr lang="en-US" altLang="en-US" sz="4000" b="1">
                <a:latin typeface="Century Gothic" panose="020B0502020202020204" pitchFamily="34" charset="0"/>
              </a:rPr>
              <a:t>                                               </a:t>
            </a:r>
            <a:r>
              <a:rPr lang="en-US" altLang="en-US" sz="1800" b="1">
                <a:latin typeface="Century Gothic" panose="020B0502020202020204" pitchFamily="34" charset="0"/>
              </a:rPr>
              <a:t>(Estimates by 2009)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CB082E7A-C8D1-0710-6A49-BFEEFE5B22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8006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  <a:latin typeface="Century Gothic" panose="020B0502020202020204" pitchFamily="34" charset="0"/>
              </a:rPr>
              <a:t>Contract Research (CR)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b="1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entury Gothic" panose="020B0502020202020204" pitchFamily="34" charset="0"/>
              </a:rPr>
              <a:t>		1. Drug Discovery Stage (NCE Synthesis)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entury Gothic" panose="020B0502020202020204" pitchFamily="34" charset="0"/>
              </a:rPr>
              <a:t>		2. Pre Clinical Stage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entury Gothic" panose="020B0502020202020204" pitchFamily="34" charset="0"/>
              </a:rPr>
              <a:t>		3. Clinical Stage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b="1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To setup of laboratory as per requirements of customers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Procurement of requisite equipments and getting approvals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Recruiting personnel and providing requisite training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Possible returns 30-70%</a:t>
            </a:r>
          </a:p>
        </p:txBody>
      </p:sp>
      <p:pic>
        <p:nvPicPr>
          <p:cNvPr id="300035" name="Picture 3">
            <a:extLst>
              <a:ext uri="{FF2B5EF4-FFF2-40B4-BE49-F238E27FC236}">
                <a16:creationId xmlns:a16="http://schemas.microsoft.com/office/drawing/2014/main" id="{C8C39C00-4199-5B84-8DFE-A4B3907CC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0036" name="Rectangle 4">
            <a:extLst>
              <a:ext uri="{FF2B5EF4-FFF2-40B4-BE49-F238E27FC236}">
                <a16:creationId xmlns:a16="http://schemas.microsoft.com/office/drawing/2014/main" id="{2A62A0EC-EADB-AB5F-515E-F5916EF42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-15875"/>
            <a:ext cx="9067800" cy="1431925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Contract Research and Manufacturing Services (CRAMS)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651" name="Picture 3">
            <a:extLst>
              <a:ext uri="{FF2B5EF4-FFF2-40B4-BE49-F238E27FC236}">
                <a16:creationId xmlns:a16="http://schemas.microsoft.com/office/drawing/2014/main" id="{9A2B4D77-05FC-7D46-43A4-A9FCD4D90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3655" name="Rectangle 7">
            <a:extLst>
              <a:ext uri="{FF2B5EF4-FFF2-40B4-BE49-F238E27FC236}">
                <a16:creationId xmlns:a16="http://schemas.microsoft.com/office/drawing/2014/main" id="{98747D7C-865E-9045-7ECA-50D274DFF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16075"/>
            <a:ext cx="8382000" cy="4800600"/>
          </a:xfrm>
          <a:noFill/>
          <a:ln/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  <a:latin typeface="Century Gothic" panose="020B0502020202020204" pitchFamily="34" charset="0"/>
              </a:rPr>
              <a:t>Contract Manufacturing (CM)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endParaRPr lang="en-US" altLang="en-US" b="1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marL="533400" indent="-533400">
              <a:lnSpc>
                <a:spcPct val="90000"/>
              </a:lnSpc>
              <a:buFontTx/>
              <a:buAutoNum type="alphaUcPeriod"/>
            </a:pPr>
            <a:r>
              <a:rPr lang="en-US" altLang="en-US" b="1">
                <a:latin typeface="Century Gothic" panose="020B0502020202020204" pitchFamily="34" charset="0"/>
              </a:rPr>
              <a:t>Customised manufacturing of Intermediates for NCEs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b="1">
                <a:latin typeface="Century Gothic" panose="020B0502020202020204" pitchFamily="34" charset="0"/>
              </a:rPr>
              <a:t>     Expected returns more than 50%</a:t>
            </a:r>
          </a:p>
          <a:p>
            <a:pPr marL="533400" indent="-533400">
              <a:lnSpc>
                <a:spcPct val="90000"/>
              </a:lnSpc>
              <a:buFontTx/>
              <a:buAutoNum type="alphaUcPeriod" startAt="2"/>
            </a:pPr>
            <a:r>
              <a:rPr lang="en-US" altLang="en-US" b="1">
                <a:latin typeface="Century Gothic" panose="020B0502020202020204" pitchFamily="34" charset="0"/>
              </a:rPr>
              <a:t>Offer manufacturing facility to companies having ANDA approvals</a:t>
            </a:r>
          </a:p>
          <a:p>
            <a:pPr marL="533400" indent="-533400">
              <a:lnSpc>
                <a:spcPct val="90000"/>
              </a:lnSpc>
              <a:buFontTx/>
              <a:buAutoNum type="alphaUcPeriod" startAt="2"/>
            </a:pPr>
            <a:r>
              <a:rPr lang="en-US" altLang="en-US" b="1">
                <a:latin typeface="Century Gothic" panose="020B0502020202020204" pitchFamily="34" charset="0"/>
              </a:rPr>
              <a:t>Supply of APIs to Generic Drug Formulators</a:t>
            </a:r>
            <a:endParaRPr lang="en-US" altLang="en-US" sz="2400" b="1">
              <a:latin typeface="Century Gothic" panose="020B0502020202020204" pitchFamily="34" charset="0"/>
            </a:endParaRPr>
          </a:p>
        </p:txBody>
      </p:sp>
      <p:sp>
        <p:nvSpPr>
          <p:cNvPr id="283656" name="Rectangle 8">
            <a:extLst>
              <a:ext uri="{FF2B5EF4-FFF2-40B4-BE49-F238E27FC236}">
                <a16:creationId xmlns:a16="http://schemas.microsoft.com/office/drawing/2014/main" id="{634FD940-6971-866E-85AC-BC8CF8856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9067800" cy="1431925"/>
          </a:xfrm>
          <a:noFill/>
          <a:ln/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Contract Research and Manufacturing Services (CRAMS)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46AF64CF-8642-C38D-72A9-5AC6C425A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257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Greatest potential for cost saving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Highly trained pool of Scientists &amp; 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 Professionals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Regulatory Compliance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Quality Standards,Rich biodiversity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Adopting cGMP and Good Clinical practices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Equipped with Infrastructural facilities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Good Service and On time delivery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Govt. policies favoring R &amp; D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Growth in health insurance sector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entury Gothic" panose="020B0502020202020204" pitchFamily="34" charset="0"/>
              </a:rPr>
              <a:t>Biggest market with vast potential</a:t>
            </a:r>
            <a:endParaRPr lang="en-US" altLang="en-US" b="1">
              <a:latin typeface="Century Gothic" panose="020B0502020202020204" pitchFamily="34" charset="0"/>
            </a:endParaRPr>
          </a:p>
        </p:txBody>
      </p:sp>
      <p:pic>
        <p:nvPicPr>
          <p:cNvPr id="262147" name="Picture 3">
            <a:extLst>
              <a:ext uri="{FF2B5EF4-FFF2-40B4-BE49-F238E27FC236}">
                <a16:creationId xmlns:a16="http://schemas.microsoft.com/office/drawing/2014/main" id="{43639C44-1722-29D3-9BED-F44A007BF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2148" name="Rectangle 4">
            <a:extLst>
              <a:ext uri="{FF2B5EF4-FFF2-40B4-BE49-F238E27FC236}">
                <a16:creationId xmlns:a16="http://schemas.microsoft.com/office/drawing/2014/main" id="{4801B8D9-6461-312E-0728-FD2DEABCA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762000"/>
          </a:xfrm>
        </p:spPr>
        <p:txBody>
          <a:bodyPr/>
          <a:lstStyle/>
          <a:p>
            <a:r>
              <a:rPr lang="en-US" altLang="en-US" b="1">
                <a:latin typeface="Century Gothic" panose="020B0502020202020204" pitchFamily="34" charset="0"/>
              </a:rPr>
              <a:t>Why Outsourcing India?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B7184293-741D-D83F-0D82-0252696DD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5715000"/>
          </a:xfrm>
          <a:noFill/>
          <a:ln/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A number of 122 Clinical trials are conducted in India next to Taiwan,Mexico,Poland,Brazil.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GlaxoSmithKline, among the world’s top ten global pharma majors, is currently carrying out the largest number of clinical trials in India.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UK-based pharma major is conducting 13 drug trials in India for the treatment of diseases such as cancer,arthritis,heart disease and constipation.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Johnson &amp; Johnson, Eli Lilly are conducting respectively eight studies in India.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Suven Life Sciences &amp; Sipra Labs are also actively invloved in the Trials.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Clinical Trials in India, costs 50% to 60% less than the average cost  in the US. 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Century Gothic" panose="020B0502020202020204" pitchFamily="34" charset="0"/>
              </a:rPr>
              <a:t>AstraZeneca another global pharma company outsourcing significant number of its trials to India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en-US" sz="2400" b="1">
              <a:latin typeface="Century Gothic" panose="020B0502020202020204" pitchFamily="34" charset="0"/>
            </a:endParaRPr>
          </a:p>
        </p:txBody>
      </p:sp>
      <p:pic>
        <p:nvPicPr>
          <p:cNvPr id="266243" name="Picture 3">
            <a:extLst>
              <a:ext uri="{FF2B5EF4-FFF2-40B4-BE49-F238E27FC236}">
                <a16:creationId xmlns:a16="http://schemas.microsoft.com/office/drawing/2014/main" id="{437A8662-1675-0C64-D6B6-16B97F9B2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44" name="Rectangle 4">
            <a:extLst>
              <a:ext uri="{FF2B5EF4-FFF2-40B4-BE49-F238E27FC236}">
                <a16:creationId xmlns:a16="http://schemas.microsoft.com/office/drawing/2014/main" id="{6F05E91C-A3C0-E500-33BF-5657D0A05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579438"/>
          </a:xfrm>
        </p:spPr>
        <p:txBody>
          <a:bodyPr/>
          <a:lstStyle/>
          <a:p>
            <a:r>
              <a:rPr lang="en-US" altLang="en-US" sz="2800" b="1">
                <a:latin typeface="Century Gothic" panose="020B0502020202020204" pitchFamily="34" charset="0"/>
              </a:rPr>
              <a:t>India high on the Outsourcing list for Clinical trials</a:t>
            </a:r>
            <a:r>
              <a:rPr lang="en-US" altLang="en-US" sz="3200" b="1">
                <a:latin typeface="Century Gothic" panose="020B0502020202020204" pitchFamily="34" charset="0"/>
              </a:rPr>
              <a:t> !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9F85C216-7C40-317D-CDAF-BFFC9F917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800600"/>
          </a:xfrm>
          <a:noFill/>
          <a:ln/>
        </p:spPr>
        <p:txBody>
          <a:bodyPr/>
          <a:lstStyle/>
          <a:p>
            <a:pPr lvl="1"/>
            <a:r>
              <a:rPr lang="en-US" altLang="en-US" sz="3600" b="1">
                <a:latin typeface="Century Gothic" panose="020B0502020202020204" pitchFamily="34" charset="0"/>
              </a:rPr>
              <a:t>India has an opportunity to become the “Drug Discovery R&amp;D Outsourcing destination” to the world</a:t>
            </a:r>
          </a:p>
          <a:p>
            <a:pPr lvl="1"/>
            <a:r>
              <a:rPr lang="en-US" altLang="en-US" sz="3600" b="1">
                <a:latin typeface="Century Gothic" panose="020B0502020202020204" pitchFamily="34" charset="0"/>
              </a:rPr>
              <a:t>Company can focus efforts on core competencies / skills and contract critical services</a:t>
            </a:r>
          </a:p>
          <a:p>
            <a:pPr lvl="1"/>
            <a:r>
              <a:rPr lang="en-US" altLang="en-US" sz="3600" b="1">
                <a:latin typeface="Century Gothic" panose="020B0502020202020204" pitchFamily="34" charset="0"/>
              </a:rPr>
              <a:t>Speed to market can be enhanced through outsourcing strategic needs.</a:t>
            </a:r>
          </a:p>
        </p:txBody>
      </p:sp>
      <p:pic>
        <p:nvPicPr>
          <p:cNvPr id="291843" name="Picture 3">
            <a:extLst>
              <a:ext uri="{FF2B5EF4-FFF2-40B4-BE49-F238E27FC236}">
                <a16:creationId xmlns:a16="http://schemas.microsoft.com/office/drawing/2014/main" id="{32298550-8DCB-BA00-CBBA-601799A0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1844" name="Rectangle 4">
            <a:extLst>
              <a:ext uri="{FF2B5EF4-FFF2-40B4-BE49-F238E27FC236}">
                <a16:creationId xmlns:a16="http://schemas.microsoft.com/office/drawing/2014/main" id="{23EE86CF-D01B-5645-82FE-BDF718E6A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9067800" cy="823912"/>
          </a:xfrm>
        </p:spPr>
        <p:txBody>
          <a:bodyPr/>
          <a:lstStyle/>
          <a:p>
            <a:r>
              <a:rPr lang="en-US" altLang="en-US" sz="4800" b="1">
                <a:latin typeface="Century Gothic" panose="020B0502020202020204" pitchFamily="34" charset="0"/>
              </a:rPr>
              <a:t>Conclusion on Outsourcing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DACF36A3-88AC-47C6-79B7-73FD2C533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5029200"/>
          </a:xfrm>
          <a:noFill/>
          <a:ln/>
        </p:spPr>
        <p:txBody>
          <a:bodyPr/>
          <a:lstStyle/>
          <a:p>
            <a:pPr marL="609600" indent="-609600" algn="ctr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400" b="1" u="sng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PHARMACEUTICAL EXPORT PROMOTION COUNCIL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endParaRPr lang="en-US" altLang="en-US" sz="1400" b="1" u="sng">
              <a:latin typeface="Century Gothic" panose="020B0502020202020204" pitchFamily="34" charset="0"/>
            </a:endParaRP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/>
            </a:pPr>
            <a:r>
              <a:rPr lang="en-US" altLang="en-US" sz="2400" b="1">
                <a:latin typeface="Century Gothic" panose="020B0502020202020204" pitchFamily="34" charset="0"/>
              </a:rPr>
              <a:t>SET UP BY MINISTRY OF COMMERCE ON 12 MAY, 2004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/>
            </a:pPr>
            <a:endParaRPr lang="en-US" altLang="en-US" sz="2400" b="1">
              <a:latin typeface="Century Gothic" panose="020B0502020202020204" pitchFamily="34" charset="0"/>
            </a:endParaRP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 startAt="2"/>
            </a:pPr>
            <a:r>
              <a:rPr lang="en-US" altLang="en-US" sz="2400" b="1">
                <a:latin typeface="Century Gothic" panose="020B0502020202020204" pitchFamily="34" charset="0"/>
              </a:rPr>
              <a:t>OBJECTIVE : TO GIVE FOCUSED ATTENTION TO PHARMA EXPORTS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 startAt="2"/>
            </a:pPr>
            <a:endParaRPr lang="en-US" altLang="en-US" sz="2400" b="1">
              <a:latin typeface="Century Gothic" panose="020B0502020202020204" pitchFamily="34" charset="0"/>
            </a:endParaRP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 startAt="3"/>
            </a:pPr>
            <a:r>
              <a:rPr lang="en-US" altLang="en-US" sz="2400" b="1">
                <a:latin typeface="Century Gothic" panose="020B0502020202020204" pitchFamily="34" charset="0"/>
              </a:rPr>
              <a:t>SUPPORTED BY : ALL MAJOR PHARMA ASSOCIATIONS IDMA, BDMA, OPPI, IPA, ETC. AND GOVT., OF A.P. 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 startAt="3"/>
            </a:pPr>
            <a:endParaRPr lang="en-US" altLang="en-US" sz="2400" b="1">
              <a:latin typeface="Century Gothic" panose="020B0502020202020204" pitchFamily="34" charset="0"/>
            </a:endParaRPr>
          </a:p>
          <a:p>
            <a:pPr marL="609600" indent="-609600" eaLnBrk="0" hangingPunct="0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AutoNum type="arabicPeriod" startAt="3"/>
            </a:pPr>
            <a:r>
              <a:rPr lang="en-US" altLang="en-US" sz="2400" b="1">
                <a:latin typeface="Century Gothic" panose="020B0502020202020204" pitchFamily="34" charset="0"/>
              </a:rPr>
              <a:t>H.O. AT HYDERABAD &amp; R.O. AT MUMBAI</a:t>
            </a:r>
          </a:p>
        </p:txBody>
      </p:sp>
      <p:pic>
        <p:nvPicPr>
          <p:cNvPr id="237571" name="Picture 3">
            <a:extLst>
              <a:ext uri="{FF2B5EF4-FFF2-40B4-BE49-F238E27FC236}">
                <a16:creationId xmlns:a16="http://schemas.microsoft.com/office/drawing/2014/main" id="{3C5520A1-D1BE-7544-0259-1560F7036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572" name="Rectangle 4">
            <a:extLst>
              <a:ext uri="{FF2B5EF4-FFF2-40B4-BE49-F238E27FC236}">
                <a16:creationId xmlns:a16="http://schemas.microsoft.com/office/drawing/2014/main" id="{C287F9C5-CDBD-708F-8641-20B681A3B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1098550"/>
          </a:xfrm>
        </p:spPr>
        <p:txBody>
          <a:bodyPr/>
          <a:lstStyle/>
          <a:p>
            <a:r>
              <a:rPr lang="en-US" altLang="en-US" sz="6600" b="1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PHARMEXCIL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9743B87B-68DB-D886-1145-98A0567C0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72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Bulk drugs / drug intermediates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Drug formulations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Herbals / Ayurvedics /  Homeopathic / Unani 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Medicinal Plants  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Bio-tech / Biological products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Diagnostics and Surgicals 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Neutraceuticals 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Collaborative /contract research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Clinical trials</a:t>
            </a:r>
          </a:p>
          <a:p>
            <a:pPr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v"/>
            </a:pPr>
            <a:r>
              <a:rPr lang="en-US" altLang="en-US" sz="2400" b="1">
                <a:latin typeface="Century Gothic" panose="020B0502020202020204" pitchFamily="34" charset="0"/>
              </a:rPr>
              <a:t>Pharma consultancy services etc.</a:t>
            </a:r>
          </a:p>
        </p:txBody>
      </p:sp>
      <p:pic>
        <p:nvPicPr>
          <p:cNvPr id="238595" name="Picture 3">
            <a:extLst>
              <a:ext uri="{FF2B5EF4-FFF2-40B4-BE49-F238E27FC236}">
                <a16:creationId xmlns:a16="http://schemas.microsoft.com/office/drawing/2014/main" id="{64B10CF7-C087-935E-2690-4CFF4062F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596" name="Rectangle 4">
            <a:extLst>
              <a:ext uri="{FF2B5EF4-FFF2-40B4-BE49-F238E27FC236}">
                <a16:creationId xmlns:a16="http://schemas.microsoft.com/office/drawing/2014/main" id="{87D273EC-A3CE-0620-0D3E-A07785A2A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9067800" cy="762000"/>
          </a:xfrm>
        </p:spPr>
        <p:txBody>
          <a:bodyPr/>
          <a:lstStyle/>
          <a:p>
            <a:r>
              <a:rPr lang="en-US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Product Groups Covered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ED34D55F-B068-6AF8-52C1-42D6AECA3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057400"/>
            <a:ext cx="9144000" cy="4572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Issue of RCMC certificates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Delegations to foreign countries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Buyer seller meetings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Foreign buyer details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Embassy assistance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Exhibition participation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Seminars and Conferences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b="1">
                <a:latin typeface="Century Gothic" panose="020B0502020202020204" pitchFamily="34" charset="0"/>
              </a:rPr>
              <a:t>Technology assistance</a:t>
            </a:r>
          </a:p>
        </p:txBody>
      </p:sp>
      <p:pic>
        <p:nvPicPr>
          <p:cNvPr id="240643" name="Picture 3">
            <a:extLst>
              <a:ext uri="{FF2B5EF4-FFF2-40B4-BE49-F238E27FC236}">
                <a16:creationId xmlns:a16="http://schemas.microsoft.com/office/drawing/2014/main" id="{1AE363D9-5FAC-105F-BB1A-4B2227181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0644" name="Rectangle 4">
            <a:extLst>
              <a:ext uri="{FF2B5EF4-FFF2-40B4-BE49-F238E27FC236}">
                <a16:creationId xmlns:a16="http://schemas.microsoft.com/office/drawing/2014/main" id="{A95B95EA-D5C8-D292-6E40-27B45BCFD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501650"/>
            <a:ext cx="9067800" cy="1006475"/>
          </a:xfrm>
        </p:spPr>
        <p:txBody>
          <a:bodyPr/>
          <a:lstStyle/>
          <a:p>
            <a:r>
              <a:rPr lang="en-US" altLang="en-US" sz="6000" b="1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Assistance to Exporters</a:t>
            </a: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03" name="Picture 3">
            <a:extLst>
              <a:ext uri="{FF2B5EF4-FFF2-40B4-BE49-F238E27FC236}">
                <a16:creationId xmlns:a16="http://schemas.microsoft.com/office/drawing/2014/main" id="{10D242F4-209A-0C1F-2FDA-00037D4D8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04" name="Rectangle 4">
            <a:extLst>
              <a:ext uri="{FF2B5EF4-FFF2-40B4-BE49-F238E27FC236}">
                <a16:creationId xmlns:a16="http://schemas.microsoft.com/office/drawing/2014/main" id="{C0EDF3BC-04CC-0DE2-C450-A4314CA66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87338"/>
            <a:ext cx="9067800" cy="823912"/>
          </a:xfrm>
        </p:spPr>
        <p:txBody>
          <a:bodyPr/>
          <a:lstStyle/>
          <a:p>
            <a:r>
              <a:rPr lang="en-US" altLang="en-US" sz="4800" b="1">
                <a:effectLst>
                  <a:outerShdw blurRad="38100" dist="38100" dir="2700000" algn="tl">
                    <a:srgbClr val="000000"/>
                  </a:outerShdw>
                </a:effectLst>
                <a:latin typeface="Century Gothic" panose="020B0502020202020204" pitchFamily="34" charset="0"/>
              </a:rPr>
              <a:t>Pharmexcil’s Website</a:t>
            </a:r>
          </a:p>
        </p:txBody>
      </p:sp>
      <p:sp>
        <p:nvSpPr>
          <p:cNvPr id="256011" name="WordArt 11">
            <a:extLst>
              <a:ext uri="{FF2B5EF4-FFF2-40B4-BE49-F238E27FC236}">
                <a16:creationId xmlns:a16="http://schemas.microsoft.com/office/drawing/2014/main" id="{DAECC3BD-C8B7-DA80-3FC8-DC1F6126E2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-16197960">
            <a:off x="5784057" y="3107531"/>
            <a:ext cx="5018088" cy="93662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2800" b="1" i="1" kern="10">
                <a:ln w="0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effectLst>
                  <a:outerShdw dist="53882" dir="2700000" algn="ctr" rotWithShape="0">
                    <a:srgbClr val="C0C0C0"/>
                  </a:outerShdw>
                </a:effectLst>
                <a:cs typeface="Times New Roman" panose="02020603050405020304" pitchFamily="18" charset="0"/>
              </a:rPr>
              <a:t>www.pharmexcil.com</a:t>
            </a:r>
          </a:p>
        </p:txBody>
      </p:sp>
      <p:pic>
        <p:nvPicPr>
          <p:cNvPr id="256012" name="Picture 12">
            <a:extLst>
              <a:ext uri="{FF2B5EF4-FFF2-40B4-BE49-F238E27FC236}">
                <a16:creationId xmlns:a16="http://schemas.microsoft.com/office/drawing/2014/main" id="{2B2A60EE-7F85-165F-FF14-848E0A05E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62050"/>
            <a:ext cx="7086600" cy="53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A206A732-0D3C-B49A-7756-E68211268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6900" y="3429000"/>
            <a:ext cx="5410200" cy="1828800"/>
          </a:xfrm>
          <a:noFill/>
          <a:ln/>
        </p:spPr>
        <p:txBody>
          <a:bodyPr/>
          <a:lstStyle/>
          <a:p>
            <a:pPr eaLnBrk="0" hangingPunct="0">
              <a:buFontTx/>
              <a:buNone/>
            </a:pPr>
            <a:r>
              <a:rPr lang="en-US" altLang="en-US" sz="9400">
                <a:latin typeface="Monotype Corsiva" panose="03010101010201010101" pitchFamily="66" charset="0"/>
              </a:rPr>
              <a:t>Thanks You</a:t>
            </a:r>
          </a:p>
        </p:txBody>
      </p:sp>
      <p:pic>
        <p:nvPicPr>
          <p:cNvPr id="296963" name="Picture 3">
            <a:extLst>
              <a:ext uri="{FF2B5EF4-FFF2-40B4-BE49-F238E27FC236}">
                <a16:creationId xmlns:a16="http://schemas.microsoft.com/office/drawing/2014/main" id="{BD26D6B0-F2CB-0C6A-3663-38383A4BE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553200"/>
            <a:ext cx="140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964" name="Rectangle 4">
            <a:extLst>
              <a:ext uri="{FF2B5EF4-FFF2-40B4-BE49-F238E27FC236}">
                <a16:creationId xmlns:a16="http://schemas.microsoft.com/office/drawing/2014/main" id="{0F8BFDC4-B185-9E35-245D-53A965ED6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600200"/>
            <a:ext cx="9067800" cy="1433513"/>
          </a:xfrm>
        </p:spPr>
        <p:txBody>
          <a:bodyPr/>
          <a:lstStyle/>
          <a:p>
            <a:r>
              <a:rPr lang="en-US" altLang="en-US" sz="8800"/>
              <a:t>PHARMEXCIL</a:t>
            </a:r>
            <a:endParaRPr lang="en-US" altLang="en-US" sz="8800"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 spd="med">
    <p:zoom dir="in"/>
    <p:sndAc>
      <p:stSnd>
        <p:snd r:embed="rId2" name="Jungle Maximize.wav"/>
      </p:stSnd>
    </p:sndAc>
  </p:transition>
</p:sld>
</file>

<file path=ppt/theme/theme1.xml><?xml version="1.0" encoding="utf-8"?>
<a:theme xmlns:a="http://schemas.openxmlformats.org/drawingml/2006/main" name="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Designs\Network Blitz.pot</Template>
  <TotalTime>1984</TotalTime>
  <Words>1487</Words>
  <Application>Microsoft Office PowerPoint</Application>
  <PresentationFormat>On-screen Show (4:3)</PresentationFormat>
  <Paragraphs>238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Times New Roman</vt:lpstr>
      <vt:lpstr>Arial Black</vt:lpstr>
      <vt:lpstr>Arial</vt:lpstr>
      <vt:lpstr>Wingdings</vt:lpstr>
      <vt:lpstr>Century Gothic</vt:lpstr>
      <vt:lpstr>Trebuchet MS</vt:lpstr>
      <vt:lpstr>Book Antiqua</vt:lpstr>
      <vt:lpstr>Monotype Corsiva</vt:lpstr>
      <vt:lpstr>Network Blitz</vt:lpstr>
      <vt:lpstr>PowerPoint Presentation</vt:lpstr>
      <vt:lpstr>Global Pharmaceutical Audited Market</vt:lpstr>
      <vt:lpstr>Indian  Pharmaceutical  Industry</vt:lpstr>
      <vt:lpstr>Indian Pharmaceutical Industry – Key Strengths</vt:lpstr>
      <vt:lpstr>Approvals  Received  from  Some Developed  Countries</vt:lpstr>
      <vt:lpstr>Hyderabad in Indian Pharma</vt:lpstr>
      <vt:lpstr>Economics of Drug Discovery</vt:lpstr>
      <vt:lpstr>Global Pharma Industry : Economics</vt:lpstr>
      <vt:lpstr>Drug Discovery : Changing Landscape</vt:lpstr>
      <vt:lpstr>Generics : Focus Area</vt:lpstr>
      <vt:lpstr>Key Trends in the Pharmaceutical Industry</vt:lpstr>
      <vt:lpstr>Outsourcing &amp; Pharma..</vt:lpstr>
      <vt:lpstr>Outsourcing &amp; Pharma..</vt:lpstr>
      <vt:lpstr>Outsourcing &amp; Pharma..</vt:lpstr>
      <vt:lpstr>Cost Comparison:-</vt:lpstr>
      <vt:lpstr>Pharma Outsourcing – Market Size                                                (Estimates by 2009)</vt:lpstr>
      <vt:lpstr>Contract Research and Manufacturing Services (CRAMS)</vt:lpstr>
      <vt:lpstr>Contract Research and Manufacturing Services (CRAMS)</vt:lpstr>
      <vt:lpstr>Why Outsourcing India?</vt:lpstr>
      <vt:lpstr>India high on the Outsourcing list for Clinical trials !</vt:lpstr>
      <vt:lpstr>Conclusion on Outsourcing</vt:lpstr>
      <vt:lpstr>PHARMEXCIL</vt:lpstr>
      <vt:lpstr>Product Groups Covered</vt:lpstr>
      <vt:lpstr>Assistance to Exporters</vt:lpstr>
      <vt:lpstr>Pharmexcil’s Website</vt:lpstr>
      <vt:lpstr>PHARMEXCIL</vt:lpstr>
    </vt:vector>
  </TitlesOfParts>
  <Company>NPPA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P.V.Appaji</dc:creator>
  <cp:lastModifiedBy>Bhaskar S</cp:lastModifiedBy>
  <cp:revision>493</cp:revision>
  <dcterms:created xsi:type="dcterms:W3CDTF">2002-05-06T06:38:17Z</dcterms:created>
  <dcterms:modified xsi:type="dcterms:W3CDTF">2026-04-24T10:53:41Z</dcterms:modified>
</cp:coreProperties>
</file>